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6000"/>
            </a:avLst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48840"/>
            <a:ext cx="10058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9900"/>
                </a:solidFill>
                <a:latin typeface="Calibri"/>
              </a:rPr>
              <a:t>AWS BEDROCK AGENTS  |  AUTO INSURANCE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14600"/>
            <a:ext cx="10515600" cy="11887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FFFFFF"/>
                </a:solidFill>
                <a:latin typeface="Calibri"/>
              </a:rPr>
              <a:t>AutoClaim IQ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566160"/>
            <a:ext cx="960120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C9D1D9"/>
                </a:solidFill>
                <a:latin typeface="Calibri"/>
              </a:rPr>
              <a:t>A production-grade AWS Bedrock Agents platform for car-insurance</a:t>
            </a:r>
          </a:p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C9D1D9"/>
                </a:solidFill>
                <a:latin typeface="Calibri"/>
              </a:rPr>
              <a:t>policy verification and claims filing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343400"/>
            <a:ext cx="1051560" cy="44450"/>
          </a:xfrm>
          <a:prstGeom prst="roundRect">
            <a:avLst>
              <a:gd name="adj" fmla="val 6000"/>
            </a:avLst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394960"/>
            <a:ext cx="73152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9AA5B1"/>
                </a:solidFill>
                <a:latin typeface="Calibri"/>
              </a:rPr>
              <a:t>Architecture &amp; Solution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806440"/>
            <a:ext cx="10058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7C8794"/>
                </a:solidFill>
                <a:latin typeface="Calibri"/>
              </a:rPr>
              <a:t>One Bedrock Agent • Two Action Groups • S3 Vectors Knowledge Base • 12 Terraform Modules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46304" cy="6858000"/>
          </a:xfrm>
          <a:prstGeom prst="roundRect">
            <a:avLst>
              <a:gd name="adj" fmla="val 6000"/>
            </a:avLst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73152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9900"/>
                </a:solidFill>
                <a:latin typeface="Calibri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530352"/>
            <a:ext cx="1115568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232F3E"/>
                </a:solidFill>
                <a:latin typeface="Calibri"/>
              </a:rPr>
              <a:t>Project Executive Summary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70432"/>
            <a:ext cx="1051560" cy="44450"/>
          </a:xfrm>
          <a:prstGeom prst="roundRect">
            <a:avLst>
              <a:gd name="adj" fmla="val 6000"/>
            </a:avLst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6126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350" b="0">
                <a:solidFill>
                  <a:srgbClr val="16191F"/>
                </a:solidFill>
                <a:latin typeface="Calibri"/>
              </a:rPr>
              <a:t>•  Auto insurance contact centers spend disproportionate staff time on two repetitive, low-judgement interactions: identity/policy verification and first notice of loss (FNOL) intake.</a:t>
            </a:r>
          </a:p>
          <a:p>
            <a:pPr>
              <a:spcAft>
                <a:spcPts val="1300"/>
              </a:spcAft>
            </a:pPr>
            <a:r>
              <a:rPr sz="1350" b="0">
                <a:solidFill>
                  <a:srgbClr val="16191F"/>
                </a:solidFill>
                <a:latin typeface="Calibri"/>
              </a:rPr>
              <a:t>•  AutoClaim IQ automates this front-line interaction with a single Bedrock Agent, two purpose-built Action Groups, and a RAG Knowledge Base — every fact the agent states is retrieved from a real DynamoDB record or the Knowledge Base, never recalled from the model's own memory.</a:t>
            </a:r>
          </a:p>
          <a:p>
            <a:pPr>
              <a:spcAft>
                <a:spcPts val="1300"/>
              </a:spcAft>
            </a:pPr>
            <a:r>
              <a:rPr sz="1350" b="0">
                <a:solidFill>
                  <a:srgbClr val="16191F"/>
                </a:solidFill>
                <a:latin typeface="Calibri"/>
              </a:rPr>
              <a:t>•  Filing a claim is never a silent model decision: createClaim requires explicit end-user confirmation, enforced by Bedrock itself, and is further protected by a collision-checked, idempotent DynamoDB write.</a:t>
            </a:r>
          </a:p>
          <a:p>
            <a:pPr>
              <a:spcAft>
                <a:spcPts val="1300"/>
              </a:spcAft>
            </a:pPr>
            <a:r>
              <a:rPr sz="1350" b="0">
                <a:solidFill>
                  <a:srgbClr val="16191F"/>
                </a:solidFill>
                <a:latin typeface="Calibri"/>
              </a:rPr>
              <a:t>•  A Bedrock Guardrail structurally blocks or anonymizes sensitive PII and declines legal advice, medical advice, and competitor comparisons — independent of how the conversation is phrased.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03720" y="1463040"/>
            <a:ext cx="4846320" cy="470916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78040" y="1645920"/>
            <a:ext cx="42976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32F3E"/>
                </a:solidFill>
                <a:latin typeface="Calibri"/>
              </a:rPr>
              <a:t>Delivery Status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78040" y="2148840"/>
            <a:ext cx="33832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32F3E"/>
                </a:solidFill>
                <a:latin typeface="Calibri"/>
              </a:rPr>
              <a:t>Phase 1 — Build the 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2130552"/>
            <a:ext cx="11430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i="0">
                <a:solidFill>
                  <a:srgbClr val="1E7A34"/>
                </a:solidFill>
                <a:latin typeface="Calibri"/>
              </a:rPr>
              <a:t>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69480" y="2459736"/>
            <a:ext cx="42062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A5F6B"/>
                </a:solidFill>
                <a:latin typeface="Calibri"/>
              </a:rPr>
              <a:t>–  All 12 Terraform modules + root composition validate cleanly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2734056"/>
            <a:ext cx="42062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A5F6B"/>
                </a:solidFill>
                <a:latin typeface="Calibri"/>
              </a:rPr>
              <a:t>–  36 of 36 Lambda unit tests pass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8040" y="3209544"/>
            <a:ext cx="33832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32F3E"/>
                </a:solidFill>
                <a:latin typeface="Calibri"/>
              </a:rPr>
              <a:t>Phase 2 — Cloud Deployment &amp; Live Verification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3191256"/>
            <a:ext cx="11430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i="0">
                <a:solidFill>
                  <a:srgbClr val="B06A00"/>
                </a:solidFill>
                <a:latin typeface="Calibri"/>
              </a:rPr>
              <a:t>PLANNED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80" y="3520439"/>
            <a:ext cx="42062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A5F6B"/>
                </a:solidFill>
                <a:latin typeface="Calibri"/>
              </a:rPr>
              <a:t>–  Apply to a live AWS account, seed data, upload KB docs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3794759"/>
            <a:ext cx="42062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A5F6B"/>
                </a:solidFill>
                <a:latin typeface="Calibri"/>
              </a:rPr>
              <a:t>–  Exercise a live agent conversation incl. confirmation round-trip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78040" y="4270247"/>
            <a:ext cx="4297680" cy="15240"/>
          </a:xfrm>
          <a:prstGeom prst="roundRect">
            <a:avLst>
              <a:gd name="adj" fmla="val 6000"/>
            </a:avLst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178040" y="4453127"/>
            <a:ext cx="97155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78040" y="4526279"/>
            <a:ext cx="97155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9900"/>
                </a:solidFill>
                <a:latin typeface="Calibri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4910327"/>
            <a:ext cx="97155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5A5F6B"/>
                </a:solidFill>
                <a:latin typeface="Calibri"/>
              </a:rPr>
              <a:t>Bedrock Agent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86750" y="4453127"/>
            <a:ext cx="97155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86750" y="4526279"/>
            <a:ext cx="97155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9900"/>
                </a:solidFill>
                <a:latin typeface="Calibri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6750" y="4910327"/>
            <a:ext cx="97155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5A5F6B"/>
                </a:solidFill>
                <a:latin typeface="Calibri"/>
              </a:rPr>
              <a:t>Action Groups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95460" y="4453127"/>
            <a:ext cx="97155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95460" y="4526279"/>
            <a:ext cx="97155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9900"/>
                </a:solidFill>
                <a:latin typeface="Calibri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95460" y="4910327"/>
            <a:ext cx="97155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5A5F6B"/>
                </a:solidFill>
                <a:latin typeface="Calibri"/>
              </a:rPr>
              <a:t>Knowledge Base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504170" y="4453127"/>
            <a:ext cx="97155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04170" y="4526279"/>
            <a:ext cx="97155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9900"/>
                </a:solidFill>
                <a:latin typeface="Calibri"/>
              </a:rPr>
              <a:t>12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04170" y="4910327"/>
            <a:ext cx="97155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5A5F6B"/>
                </a:solidFill>
                <a:latin typeface="Calibri"/>
              </a:rPr>
              <a:t>TF Modules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" y="6528816"/>
            <a:ext cx="54864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5F6B"/>
                </a:solidFill>
                <a:latin typeface="Calibri"/>
              </a:rPr>
              <a:t>AutoClaim IQ  |  AWS Bedrock Agents Platform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5F6B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46304" cy="6858000"/>
          </a:xfrm>
          <a:prstGeom prst="roundRect">
            <a:avLst>
              <a:gd name="adj" fmla="val 6000"/>
            </a:avLst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73152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9900"/>
                </a:solidFill>
                <a:latin typeface="Calibri"/>
              </a:rPr>
              <a:t>BUSINESS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530352"/>
            <a:ext cx="1115568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232F3E"/>
                </a:solidFill>
                <a:latin typeface="Calibri"/>
              </a:rPr>
              <a:t>Business Context &amp; Problem Statement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70432"/>
            <a:ext cx="1051560" cy="44450"/>
          </a:xfrm>
          <a:prstGeom prst="roundRect">
            <a:avLst>
              <a:gd name="adj" fmla="val 6000"/>
            </a:avLst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463040"/>
            <a:ext cx="5486400" cy="470916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45920"/>
            <a:ext cx="4937760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232F3E"/>
                </a:solidFill>
                <a:latin typeface="Calibri"/>
              </a:rPr>
              <a:t>The Operational Bottleneck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29968"/>
            <a:ext cx="493776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5A5F6B"/>
                </a:solidFill>
                <a:latin typeface="Calibri"/>
              </a:rPr>
              <a:t>A policyholder calling an insurer typically needs one of three things — each depends on</a:t>
            </a:r>
          </a:p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5A5F6B"/>
                </a:solidFill>
                <a:latin typeface="Calibri"/>
              </a:rPr>
              <a:t>cross-checking real systems of record: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97480"/>
            <a:ext cx="4937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200" b="0">
                <a:solidFill>
                  <a:srgbClr val="16191F"/>
                </a:solidFill>
                <a:latin typeface="Calibri"/>
              </a:rPr>
              <a:t>•  Identity and policy verification — confirming the caller actually owns the policy (policy number + last name) before discussing specifics.</a:t>
            </a:r>
          </a:p>
          <a:p>
            <a:pPr>
              <a:spcAft>
                <a:spcPts val="1200"/>
              </a:spcAft>
            </a:pPr>
            <a:r>
              <a:rPr sz="1200" b="0">
                <a:solidFill>
                  <a:srgbClr val="16191F"/>
                </a:solidFill>
                <a:latin typeface="Calibri"/>
              </a:rPr>
              <a:t>•  Coverage and process questions — deductibles, comprehensive vs. collision, claims timeline, rental terms — answered consistently, not from memory.</a:t>
            </a:r>
          </a:p>
          <a:p>
            <a:pPr>
              <a:spcAft>
                <a:spcPts val="1200"/>
              </a:spcAft>
            </a:pPr>
            <a:r>
              <a:rPr sz="1200" b="0">
                <a:solidFill>
                  <a:srgbClr val="16191F"/>
                </a:solidFill>
                <a:latin typeface="Calibri"/>
              </a:rPr>
              <a:t>•  First notice of loss (FNOL) — capturing accident details accurately, confirming them back, creating a real claim record, assigning an adjuster.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63040"/>
            <a:ext cx="5440680" cy="470916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645920"/>
            <a:ext cx="4892040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232F3E"/>
                </a:solidFill>
                <a:latin typeface="Calibri"/>
              </a:rPr>
              <a:t>Why This Matters Now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194560"/>
            <a:ext cx="48920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200" b="0">
                <a:solidFill>
                  <a:srgbClr val="16191F"/>
                </a:solidFill>
                <a:latin typeface="Calibri"/>
              </a:rPr>
              <a:t>•  Policyholders increasingly expect 24/7 self-service parity with digital-first insurtechs; a slow, phone-only intake path is a service-quality gap.</a:t>
            </a:r>
          </a:p>
          <a:p>
            <a:pPr>
              <a:spcAft>
                <a:spcPts val="1300"/>
              </a:spcAft>
            </a:pPr>
            <a:r>
              <a:rPr sz="1200" b="0">
                <a:solidFill>
                  <a:srgbClr val="16191F"/>
                </a:solidFill>
                <a:latin typeface="Calibri"/>
              </a:rPr>
              <a:t>•  Any inconsistency in identity verification or coverage answers carries direct regulatory and customer-trust risk in a regulated line of business.</a:t>
            </a:r>
          </a:p>
          <a:p>
            <a:pPr>
              <a:spcAft>
                <a:spcPts val="1300"/>
              </a:spcAft>
            </a:pPr>
            <a:r>
              <a:rPr sz="1200" b="0">
                <a:solidFill>
                  <a:srgbClr val="16191F"/>
                </a:solidFill>
                <a:latin typeface="Calibri"/>
              </a:rPr>
              <a:t>•  Generative AI has matured past the natural-language bottleneck — the real bottleneck is grounding every consequential answer in real data and gating every consequential write behind explicit confirmation, which is exactly what this system is built around.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37960" y="4343400"/>
            <a:ext cx="489204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20840" y="4480560"/>
            <a:ext cx="4526280" cy="1371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1">
                <a:solidFill>
                  <a:srgbClr val="16191F"/>
                </a:solidFill>
                <a:latin typeface="Calibri"/>
              </a:rPr>
              <a:t>Handling all three by phone with live staff is accurate but expensive and slow at volume; handling them with a naive chatbot is fast but risks the failure modes that matter most in insurance: misidentifying a caller, fabricating a coverage answer, or creating a claim without genuine confirmation.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6528816"/>
            <a:ext cx="54864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5F6B"/>
                </a:solidFill>
                <a:latin typeface="Calibri"/>
              </a:rPr>
              <a:t>AutoClaim IQ  |  AWS Bedrock Agents Platform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5F6B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46304" cy="6858000"/>
          </a:xfrm>
          <a:prstGeom prst="roundRect">
            <a:avLst>
              <a:gd name="adj" fmla="val 6000"/>
            </a:avLst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73152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9900"/>
                </a:solidFill>
                <a:latin typeface="Calibri"/>
              </a:rPr>
              <a:t>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530352"/>
            <a:ext cx="1115568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232F3E"/>
                </a:solidFill>
                <a:latin typeface="Calibri"/>
              </a:rPr>
              <a:t>AutoClaim IQ: One Agent, One Authenticated Endpoint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70432"/>
            <a:ext cx="1051560" cy="44450"/>
          </a:xfrm>
          <a:prstGeom prst="roundRect">
            <a:avLst>
              <a:gd name="adj" fmla="val 6000"/>
            </a:avLst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1155680" cy="5943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1">
                <a:solidFill>
                  <a:srgbClr val="5A5F6B"/>
                </a:solidFill>
                <a:latin typeface="Calibri"/>
              </a:rPr>
              <a:t>A single conversational agent, reachable through one Cognito-authenticated API endpoint, that a policyholder can address in natural language for policy verification, coverage questions, and claims intake in one continuous session.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03120"/>
            <a:ext cx="626364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232F3E"/>
                </a:solidFill>
                <a:latin typeface="Calibri"/>
              </a:rPr>
              <a:t>What it does, end to 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514600"/>
            <a:ext cx="6263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250" b="0">
                <a:solidFill>
                  <a:srgbClr val="16191F"/>
                </a:solidFill>
                <a:latin typeface="Calibri"/>
              </a:rPr>
              <a:t>•  Accepts a chat-style request via a Cognito-JWT-authenticated HTTP API.</a:t>
            </a:r>
          </a:p>
          <a:p>
            <a:pPr>
              <a:spcAft>
                <a:spcPts val="1100"/>
              </a:spcAft>
            </a:pPr>
            <a:r>
              <a:rPr sz="1250" b="0">
                <a:solidFill>
                  <a:srgbClr val="16191F"/>
                </a:solidFill>
                <a:latin typeface="Calibri"/>
              </a:rPr>
              <a:t>•  Verifies the caller's identity by policy number and last name before discussing any policy specifics or filing a claim — never assumes identity from what the caller states.</a:t>
            </a:r>
          </a:p>
          <a:p>
            <a:pPr>
              <a:spcAft>
                <a:spcPts val="1100"/>
              </a:spcAft>
            </a:pPr>
            <a:r>
              <a:rPr sz="1250" b="0">
                <a:solidFill>
                  <a:srgbClr val="16191F"/>
                </a:solidFill>
                <a:latin typeface="Calibri"/>
              </a:rPr>
              <a:t>•  Answers coverage, deductible, and claims-process questions grounded in a Knowledge Base built from the insurer's own documents, and says so explicitly when it has no answer, rather than guessing.</a:t>
            </a:r>
          </a:p>
          <a:p>
            <a:pPr>
              <a:spcAft>
                <a:spcPts val="1100"/>
              </a:spcAft>
            </a:pPr>
            <a:r>
              <a:rPr sz="1250" b="0">
                <a:solidFill>
                  <a:srgbClr val="16191F"/>
                </a:solidFill>
                <a:latin typeface="Calibri"/>
              </a:rPr>
              <a:t>•  Walks the caller through filing a first notice of loss, explicitly confirming the accident date and description back to them before the claim is actually created.</a:t>
            </a:r>
          </a:p>
          <a:p>
            <a:pPr>
              <a:spcAft>
                <a:spcPts val="1100"/>
              </a:spcAft>
            </a:pPr>
            <a:r>
              <a:rPr sz="1250" b="0">
                <a:solidFill>
                  <a:srgbClr val="16191F"/>
                </a:solidFill>
                <a:latin typeface="Calibri"/>
              </a:rPr>
              <a:t>•  Creates a real claim record with a collision-checked claim number and a deterministically assigned adjuster; lets the caller check claim status later.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40880" y="2103120"/>
            <a:ext cx="4663440" cy="3977639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0" y="2286000"/>
            <a:ext cx="41148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32F3E"/>
                </a:solidFill>
                <a:latin typeface="Calibri"/>
              </a:rPr>
              <a:t>Not just a chatbot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2697480"/>
            <a:ext cx="4114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100" b="0">
                <a:solidFill>
                  <a:srgbClr val="16191F"/>
                </a:solidFill>
                <a:latin typeface="Calibri"/>
              </a:rPr>
              <a:t>•  No reliable way for a plain LLM call to guarantee policy details are real, not hallucinated.</a:t>
            </a:r>
          </a:p>
          <a:p>
            <a:pPr>
              <a:spcAft>
                <a:spcPts val="1000"/>
              </a:spcAft>
            </a:pPr>
            <a:r>
              <a:rPr sz="1100" b="0">
                <a:solidFill>
                  <a:srgbClr val="16191F"/>
                </a:solidFill>
                <a:latin typeface="Calibri"/>
              </a:rPr>
              <a:t>•  No systematic identity gate before disclosing anything.</a:t>
            </a:r>
          </a:p>
          <a:p>
            <a:pPr>
              <a:spcAft>
                <a:spcPts val="1000"/>
              </a:spcAft>
            </a:pPr>
            <a:r>
              <a:rPr sz="1100" b="0">
                <a:solidFill>
                  <a:srgbClr val="16191F"/>
                </a:solidFill>
                <a:latin typeface="Calibri"/>
              </a:rPr>
              <a:t>•  No enforced pause for confirmation before a consequential write.</a:t>
            </a:r>
          </a:p>
          <a:p>
            <a:pPr>
              <a:spcAft>
                <a:spcPts val="1000"/>
              </a:spcAft>
            </a:pPr>
            <a:r>
              <a:rPr sz="1100" b="0">
                <a:solidFill>
                  <a:srgbClr val="16191F"/>
                </a:solidFill>
                <a:latin typeface="Calibri"/>
              </a:rPr>
              <a:t>•  No structural protection against being talked into legal/medical advice or repeating a policyholder's SSN or card number.</a:t>
            </a:r>
          </a:p>
          <a:p>
            <a:pPr>
              <a:spcAft>
                <a:spcPts val="1000"/>
              </a:spcAft>
            </a:pPr>
            <a:r>
              <a:rPr sz="1100" b="0">
                <a:solidFill>
                  <a:srgbClr val="16191F"/>
                </a:solidFill>
                <a:latin typeface="Calibri"/>
              </a:rPr>
              <a:t>•  AutoClaim IQ is architected specifically to close every one of these gaps.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6528816"/>
            <a:ext cx="54864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5F6B"/>
                </a:solidFill>
                <a:latin typeface="Calibri"/>
              </a:rPr>
              <a:t>AutoClaim IQ  |  AWS Bedrock Agents Platform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5F6B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46304" cy="6858000"/>
          </a:xfrm>
          <a:prstGeom prst="roundRect">
            <a:avLst>
              <a:gd name="adj" fmla="val 6000"/>
            </a:avLst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73152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9900"/>
                </a:solidFill>
                <a:latin typeface="Calibri"/>
              </a:rPr>
              <a:t>DESIGN RATIONALE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530352"/>
            <a:ext cx="1115568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232F3E"/>
                </a:solidFill>
                <a:latin typeface="Calibri"/>
              </a:rPr>
              <a:t>Why an Agentic (Tool-Using) AI Approach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70432"/>
            <a:ext cx="1051560" cy="44450"/>
          </a:xfrm>
          <a:prstGeom prst="roundRect">
            <a:avLst>
              <a:gd name="adj" fmla="val 6000"/>
            </a:avLst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111556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5A5F6B"/>
                </a:solidFill>
                <a:latin typeface="Calibri"/>
              </a:rPr>
              <a:t>“Agentic” means the system plans and calls real tools to gather facts and take action, rather than answering purely from the model's own generated text.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74519"/>
            <a:ext cx="3675887" cy="192024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874519"/>
            <a:ext cx="3675887" cy="73152"/>
          </a:xfrm>
          <a:prstGeom prst="roundRect">
            <a:avLst>
              <a:gd name="adj" fmla="val 6000"/>
            </a:avLst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2057399"/>
            <a:ext cx="3310127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232F3E"/>
                </a:solidFill>
                <a:latin typeface="Calibri"/>
              </a:rPr>
              <a:t>Two Purpose-Built Action Groups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2651759"/>
            <a:ext cx="3310127" cy="10515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5A5F6B"/>
                </a:solidFill>
                <a:latin typeface="Calibri"/>
              </a:rPr>
              <a:t>PolicyActionGroup only verifies identity; ClaimsActionGroup only files/looks up claims — each a short, independently unit-tested function, not one generalist prompt.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399" y="1874519"/>
            <a:ext cx="3675887" cy="192024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43399" y="1874519"/>
            <a:ext cx="3675887" cy="73152"/>
          </a:xfrm>
          <a:prstGeom prst="roundRect">
            <a:avLst>
              <a:gd name="adj" fmla="val 6000"/>
            </a:avLst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7" y="2057399"/>
            <a:ext cx="3310127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232F3E"/>
                </a:solidFill>
                <a:latin typeface="Calibri"/>
              </a:rPr>
              <a:t>Grounding Eliminates Hallucination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7" y="2651759"/>
            <a:ext cx="3310127" cy="10515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5A5F6B"/>
                </a:solidFill>
                <a:latin typeface="Calibri"/>
              </a:rPr>
              <a:t>Every policy fact and claim outcome is read from or written to real DynamoDB data via a deterministic Lambda tool — never recalled from model memory.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8" y="1874519"/>
            <a:ext cx="3675887" cy="192024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83878" y="1874519"/>
            <a:ext cx="3675887" cy="73152"/>
          </a:xfrm>
          <a:prstGeom prst="roundRect">
            <a:avLst>
              <a:gd name="adj" fmla="val 6000"/>
            </a:avLst>
          </a:prstGeom>
          <a:solidFill>
            <a:srgbClr val="14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85046" y="2057399"/>
            <a:ext cx="3310127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232F3E"/>
                </a:solidFill>
                <a:latin typeface="Calibri"/>
              </a:rPr>
              <a:t>Deterministic Identity &amp; Business Rules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5046" y="2651759"/>
            <a:ext cx="3310127" cy="10515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5A5F6B"/>
                </a:solidFill>
                <a:latin typeface="Calibri"/>
              </a:rPr>
              <a:t>Identity match and ACTIVE-policy enforcement are exact-match Lambda logic, not an LLM judgement call.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977639"/>
            <a:ext cx="3675887" cy="192024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2920" y="3977639"/>
            <a:ext cx="3675887" cy="73152"/>
          </a:xfrm>
          <a:prstGeom prst="roundRect">
            <a:avLst>
              <a:gd name="adj" fmla="val 6000"/>
            </a:avLst>
          </a:prstGeom>
          <a:solidFill>
            <a:srgbClr val="6B6B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088" y="4160519"/>
            <a:ext cx="3310127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232F3E"/>
                </a:solidFill>
                <a:latin typeface="Calibri"/>
              </a:rPr>
              <a:t>Confirmation Before Consequential 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" y="4754879"/>
            <a:ext cx="3310127" cy="10515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5A5F6B"/>
                </a:solidFill>
                <a:latin typeface="Calibri"/>
              </a:rPr>
              <a:t>x-requireConfirmation: ENABLED means Bedrock itself withholds the createClaim invocation until the caller explicitly confirms.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43399" y="3977639"/>
            <a:ext cx="3675887" cy="192024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343399" y="3977639"/>
            <a:ext cx="3675887" cy="73152"/>
          </a:xfrm>
          <a:prstGeom prst="roundRect">
            <a:avLst>
              <a:gd name="adj" fmla="val 6000"/>
            </a:avLst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44567" y="4160519"/>
            <a:ext cx="3310127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232F3E"/>
                </a:solidFill>
                <a:latin typeface="Calibri"/>
              </a:rPr>
              <a:t>Built-In Guardrails for Regulated Content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44567" y="4754879"/>
            <a:ext cx="3310127" cy="10515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5A5F6B"/>
                </a:solidFill>
                <a:latin typeface="Calibri"/>
              </a:rPr>
              <a:t>A Bedrock Guardrail blocks/anonymizes PII and declines legal, medical, and competitor-comparison topics as infrastructure, not prompt wording.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83878" y="3977639"/>
            <a:ext cx="3675887" cy="192024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183878" y="3977639"/>
            <a:ext cx="3675887" cy="73152"/>
          </a:xfrm>
          <a:prstGeom prst="roundRect">
            <a:avLst>
              <a:gd name="adj" fmla="val 6000"/>
            </a:avLst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85046" y="4160519"/>
            <a:ext cx="3310127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232F3E"/>
                </a:solidFill>
                <a:latin typeface="Calibri"/>
              </a:rPr>
              <a:t>Observability &amp; Least Privilege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5046" y="4754879"/>
            <a:ext cx="3310127" cy="10515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5A5F6B"/>
                </a:solidFill>
                <a:latin typeface="Calibri"/>
              </a:rPr>
              <a:t>CloudWatch alarms, a dashboard, and X-Ray tracing across the request path; every IAM role scoped to specific resource ARNs.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" y="6528816"/>
            <a:ext cx="54864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5F6B"/>
                </a:solidFill>
                <a:latin typeface="Calibri"/>
              </a:rPr>
              <a:t>AutoClaim IQ  |  AWS Bedrock Agents Platform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5F6B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46304" cy="6858000"/>
          </a:xfrm>
          <a:prstGeom prst="roundRect">
            <a:avLst>
              <a:gd name="adj" fmla="val 6000"/>
            </a:avLst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73152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9900"/>
                </a:solidFill>
                <a:latin typeface="Calibri"/>
              </a:rPr>
              <a:t>DELIVERY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530352"/>
            <a:ext cx="1115568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232F3E"/>
                </a:solidFill>
                <a:latin typeface="Calibri"/>
              </a:rPr>
              <a:t>From Demo-Quality Prototype to a Production-Grade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70432"/>
            <a:ext cx="1051560" cy="44450"/>
          </a:xfrm>
          <a:prstGeom prst="roundRect">
            <a:avLst>
              <a:gd name="adj" fmla="val 6000"/>
            </a:avLst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450" b="0">
                <a:solidFill>
                  <a:srgbClr val="16191F"/>
                </a:solidFill>
                <a:latin typeface="Calibri"/>
              </a:rPr>
              <a:t>•  AutoClaim IQ lets an authenticated policyholder verify a policy and file a car-insurance claim through one conversational Bedrock Agent.</a:t>
            </a:r>
          </a:p>
          <a:p>
            <a:pPr>
              <a:spcAft>
                <a:spcPts val="1400"/>
              </a:spcAft>
            </a:pPr>
            <a:r>
              <a:rPr sz="1450" b="0">
                <a:solidFill>
                  <a:srgbClr val="16191F"/>
                </a:solidFill>
                <a:latin typeface="Calibri"/>
              </a:rPr>
              <a:t>•  The agent orchestrates two Action Groups — policy verification and claims — plus a Knowledge Base for coverage/FAQ questions, backed by real DynamoDB data (no hardcoded fixtures).</a:t>
            </a:r>
          </a:p>
          <a:p>
            <a:pPr>
              <a:spcAft>
                <a:spcPts val="1400"/>
              </a:spcAft>
            </a:pPr>
            <a:r>
              <a:rPr sz="1450" b="0">
                <a:solidFill>
                  <a:srgbClr val="16191F"/>
                </a:solidFill>
                <a:latin typeface="Calibri"/>
              </a:rPr>
              <a:t>•  This build deliberately rebuilds an earlier, demo-quality design (PROJECT-IDEA.md) that had a monolithic Terraform file, fake Lambda data, an unauthenticated public endpoint, and wildcard IAM policies.</a:t>
            </a:r>
          </a:p>
          <a:p>
            <a:pPr>
              <a:spcAft>
                <a:spcPts val="1400"/>
              </a:spcAft>
            </a:pPr>
            <a:r>
              <a:rPr sz="1450" b="0">
                <a:solidFill>
                  <a:srgbClr val="16191F"/>
                </a:solidFill>
                <a:latin typeface="Calibri"/>
              </a:rPr>
              <a:t>•  Every one of those gaps is closed and documented as an explicit correction in docs/decision-log.md.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463040"/>
            <a:ext cx="5349240" cy="470916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645920"/>
            <a:ext cx="48006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32F3E"/>
                </a:solidFill>
                <a:latin typeface="Calibri"/>
              </a:rPr>
              <a:t>What changed vs. the original idea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148840"/>
            <a:ext cx="48006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B03A2E"/>
                </a:solidFill>
                <a:latin typeface="Calibri"/>
              </a:rPr>
              <a:t>✗  Monolithic main.tf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450592"/>
            <a:ext cx="48006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E7A34"/>
                </a:solidFill>
                <a:latin typeface="Calibri"/>
              </a:rPr>
              <a:t>✓  12 independently-testable Terraform modules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926080"/>
            <a:ext cx="48006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B03A2E"/>
                </a:solidFill>
                <a:latin typeface="Calibri"/>
              </a:rPr>
              <a:t>✗  Hardcoded Lambda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3227832"/>
            <a:ext cx="48006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E7A34"/>
                </a:solidFill>
                <a:latin typeface="Calibri"/>
              </a:rPr>
              <a:t>✓  Real DynamoDB-backed business logic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3703320"/>
            <a:ext cx="48006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B03A2E"/>
                </a:solidFill>
                <a:latin typeface="Calibri"/>
              </a:rPr>
              <a:t>✗  Public, unauthenticated URL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4005072"/>
            <a:ext cx="48006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E7A34"/>
                </a:solidFill>
                <a:latin typeface="Calibri"/>
              </a:rPr>
              <a:t>✓  Cognito JWT-authenticated API Gateway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4480559"/>
            <a:ext cx="48006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B03A2E"/>
                </a:solidFill>
                <a:latin typeface="Calibri"/>
              </a:rPr>
              <a:t>✗  Resource = ["*"] IAM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4782312"/>
            <a:ext cx="48006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E7A34"/>
                </a:solidFill>
                <a:latin typeface="Calibri"/>
              </a:rPr>
              <a:t>✓  Scoped roles + supplemental per-resource grants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5257799"/>
            <a:ext cx="48006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B03A2E"/>
                </a:solidFill>
                <a:latin typeface="Calibri"/>
              </a:rPr>
              <a:t>✗  No tests, no observability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5559551"/>
            <a:ext cx="48006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E7A34"/>
                </a:solidFill>
                <a:latin typeface="Calibri"/>
              </a:rPr>
              <a:t>✓  Full pytest suites + CloudWatch alarms/dashboard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" y="6528816"/>
            <a:ext cx="54864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5F6B"/>
                </a:solidFill>
                <a:latin typeface="Calibri"/>
              </a:rPr>
              <a:t>AutoClaim IQ  |  AWS Bedrock Agents 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5F6B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46304" cy="6858000"/>
          </a:xfrm>
          <a:prstGeom prst="roundRect">
            <a:avLst>
              <a:gd name="adj" fmla="val 6000"/>
            </a:avLst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73152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9900"/>
                </a:solidFill>
                <a:latin typeface="Calibri"/>
              </a:rPr>
              <a:t>SOLUTION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530352"/>
            <a:ext cx="1115568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232F3E"/>
                </a:solidFill>
                <a:latin typeface="Calibri"/>
              </a:rPr>
              <a:t>End-to-end request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70432"/>
            <a:ext cx="1051560" cy="44450"/>
          </a:xfrm>
          <a:prstGeom prst="roundRect">
            <a:avLst>
              <a:gd name="adj" fmla="val 6000"/>
            </a:avLst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6587" y="1600200"/>
            <a:ext cx="2514600" cy="868680"/>
          </a:xfrm>
          <a:prstGeom prst="roundRect">
            <a:avLst>
              <a:gd name="adj" fmla="val 6000"/>
            </a:avLst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Cognito-Authenticated
Client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6587" y="2542032"/>
            <a:ext cx="2514600" cy="502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5A5F6B"/>
                </a:solidFill>
                <a:latin typeface="Calibri"/>
              </a:rPr>
              <a:t>User signs in — JWT bearer token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101187.5" y="2034540.0"/>
            <a:ext cx="320040.0" cy="0.0"/>
          </a:xfrm>
          <a:prstGeom prst="line">
            <a:avLst/>
          </a:prstGeom>
          <a:ln w="25400">
            <a:solidFill>
              <a:srgbClr val="6B6B7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421227" y="1600200"/>
            <a:ext cx="2514600" cy="868680"/>
          </a:xfrm>
          <a:prstGeom prst="roundRect">
            <a:avLst>
              <a:gd name="adj" fmla="val 6000"/>
            </a:avLst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API Gateway
(HTTP API + JWT Authorizer)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1227" y="2542032"/>
            <a:ext cx="2514600" cy="502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5A5F6B"/>
                </a:solidFill>
                <a:latin typeface="Calibri"/>
              </a:rPr>
              <a:t>Validates token, throttles, routes /chat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935827.5" y="2034540.0"/>
            <a:ext cx="320040.0" cy="0.0"/>
          </a:xfrm>
          <a:prstGeom prst="line">
            <a:avLst/>
          </a:prstGeom>
          <a:ln w="25400">
            <a:solidFill>
              <a:srgbClr val="6B6B7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255867" y="1600200"/>
            <a:ext cx="2514600" cy="868680"/>
          </a:xfrm>
          <a:prstGeom prst="roundRect">
            <a:avLst>
              <a:gd name="adj" fmla="val 6000"/>
            </a:avLst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Client API Lambda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55867" y="2542032"/>
            <a:ext cx="2514600" cy="502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5A5F6B"/>
                </a:solidFill>
                <a:latin typeface="Calibri"/>
              </a:rPr>
              <a:t>Derives sessionId = sha256(sub) → InvokeAgent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770467.5" y="2034540.0"/>
            <a:ext cx="320040.0" cy="0.0"/>
          </a:xfrm>
          <a:prstGeom prst="line">
            <a:avLst/>
          </a:prstGeom>
          <a:ln w="25400">
            <a:solidFill>
              <a:srgbClr val="6B6B7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090507" y="1600200"/>
            <a:ext cx="2514600" cy="868680"/>
          </a:xfrm>
          <a:prstGeom prst="roundRect">
            <a:avLst>
              <a:gd name="adj" fmla="val 6000"/>
            </a:avLst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Bedrock Agent
(Claude + Guardrail)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0507" y="2542032"/>
            <a:ext cx="2514600" cy="502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5A5F6B"/>
                </a:solidFill>
                <a:latin typeface="Calibri"/>
              </a:rPr>
              <a:t>Reasons over the request, picks a tool / KB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0887" y="3246120"/>
            <a:ext cx="3291840" cy="868680"/>
          </a:xfrm>
          <a:prstGeom prst="roundRect">
            <a:avLst>
              <a:gd name="adj" fmla="val 6000"/>
            </a:avLst>
          </a:prstGeom>
          <a:solidFill>
            <a:srgbClr val="14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PolicyActionGroup
(Function schema) → Policy Lambda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2346807.5" y="2468880"/>
            <a:ext cx="8001000.0" cy="777240"/>
          </a:xfrm>
          <a:prstGeom prst="bentConnector3">
            <a:avLst/>
          </a:prstGeom>
          <a:ln w="22225">
            <a:solidFill>
              <a:srgbClr val="6B6B7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449927" y="3246120"/>
            <a:ext cx="3291840" cy="868680"/>
          </a:xfrm>
          <a:prstGeom prst="roundRect">
            <a:avLst>
              <a:gd name="adj" fmla="val 6000"/>
            </a:avLst>
          </a:prstGeom>
          <a:solidFill>
            <a:srgbClr val="14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ClaimsActionGroup
(OpenAPI schema) → Claims Lambda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6095847.5" y="2468880"/>
            <a:ext cx="4251960.0" cy="777240"/>
          </a:xfrm>
          <a:prstGeom prst="bentConnector3">
            <a:avLst/>
          </a:prstGeom>
          <a:ln w="22225">
            <a:solidFill>
              <a:srgbClr val="6B6B7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198967" y="3246120"/>
            <a:ext cx="3291840" cy="868680"/>
          </a:xfrm>
          <a:prstGeom prst="roundRect">
            <a:avLst>
              <a:gd name="adj" fmla="val 6000"/>
            </a:avLst>
          </a:prstGeom>
          <a:solidFill>
            <a:srgbClr val="14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Knowledge Base
(S3 Vectors RAG)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9844887.5" y="2468880"/>
            <a:ext cx="502920.0" cy="777240"/>
          </a:xfrm>
          <a:prstGeom prst="bentConnector3">
            <a:avLst/>
          </a:prstGeom>
          <a:ln w="22225">
            <a:solidFill>
              <a:srgbClr val="6B6B7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02920" y="4434840"/>
            <a:ext cx="111556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5A5F6B"/>
                </a:solidFill>
                <a:latin typeface="Calibri"/>
              </a:rPr>
              <a:t>Claims Lambda also performs a read-only cross-check against the Policies table before writing a claim.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5029200"/>
            <a:ext cx="11183112" cy="128016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166360"/>
            <a:ext cx="10607040" cy="10058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16191F"/>
                </a:solidFill>
                <a:latin typeface="Calibri"/>
              </a:rPr>
              <a:t>createClaim requires an explicit user confirmation round-trip before the Claims Lambda is ever invoked — declared via x-requireConfirmation: ENABLED in schemas/claims-openapi.yaml, enforced by Bedrock itself, not by application code.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" y="6528816"/>
            <a:ext cx="54864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5F6B"/>
                </a:solidFill>
                <a:latin typeface="Calibri"/>
              </a:rPr>
              <a:t>AutoClaim IQ  |  AWS Bedrock Agents Platform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5F6B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46304" cy="6858000"/>
          </a:xfrm>
          <a:prstGeom prst="roundRect">
            <a:avLst>
              <a:gd name="adj" fmla="val 6000"/>
            </a:avLst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73152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9900"/>
                </a:solidFill>
                <a:latin typeface="Calibri"/>
              </a:rPr>
              <a:t>FULL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530352"/>
            <a:ext cx="1115568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232F3E"/>
                </a:solidFill>
                <a:latin typeface="Calibri"/>
              </a:rPr>
              <a:t>Complete AWS resource diagram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70432"/>
            <a:ext cx="1051560" cy="44450"/>
          </a:xfrm>
          <a:prstGeom prst="roundRect">
            <a:avLst>
              <a:gd name="adj" fmla="val 6000"/>
            </a:avLst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417320"/>
            <a:ext cx="2926080" cy="502920"/>
          </a:xfrm>
          <a:prstGeom prst="roundRect">
            <a:avLst>
              <a:gd name="adj" fmla="val 6000"/>
            </a:avLst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Amazon Cognito</a:t>
            </a:r>
          </a:p>
          <a:p>
            <a:pPr algn="ctr"/>
            <a:r>
              <a:rPr sz="850" b="0">
                <a:solidFill>
                  <a:srgbClr val="FFFFFF"/>
                </a:solidFill>
                <a:latin typeface="Calibri"/>
              </a:rPr>
              <a:t>User pool + app client (JWT issuer)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23360" y="1417320"/>
            <a:ext cx="3108960" cy="502920"/>
          </a:xfrm>
          <a:prstGeom prst="roundRect">
            <a:avLst>
              <a:gd name="adj" fmla="val 6000"/>
            </a:avLst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API Gateway (HTTP API)</a:t>
            </a:r>
          </a:p>
          <a:p>
            <a:pPr algn="ctr"/>
            <a:r>
              <a:rPr sz="850" b="0">
                <a:solidFill>
                  <a:srgbClr val="FFFFFF"/>
                </a:solidFill>
                <a:latin typeface="Calibri"/>
              </a:rPr>
              <a:t>JWT authorizer • throttling • access logs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749040" y="1668780.0"/>
            <a:ext cx="274320" cy="0.0"/>
          </a:xfrm>
          <a:prstGeom prst="line">
            <a:avLst/>
          </a:prstGeom>
          <a:ln w="15875">
            <a:solidFill>
              <a:srgbClr val="6B6B76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926080" y="2084831"/>
            <a:ext cx="3291840" cy="457200"/>
          </a:xfrm>
          <a:prstGeom prst="roundRect">
            <a:avLst>
              <a:gd name="adj" fmla="val 6000"/>
            </a:avLst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200" b="1">
                <a:solidFill>
                  <a:srgbClr val="232F3E"/>
                </a:solidFill>
                <a:latin typeface="Calibri"/>
              </a:rPr>
              <a:t>Client API Lambda</a:t>
            </a:r>
          </a:p>
          <a:p>
            <a:pPr algn="ctr"/>
            <a:r>
              <a:rPr sz="850" b="0">
                <a:solidFill>
                  <a:srgbClr val="232F3E"/>
                </a:solidFill>
                <a:latin typeface="Calibri"/>
              </a:rPr>
              <a:t>sessionId = sha256(Cognito sub)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4572000.0" y="1920240"/>
            <a:ext cx="1005840.0" cy="164591"/>
          </a:xfrm>
          <a:prstGeom prst="line">
            <a:avLst/>
          </a:prstGeom>
          <a:ln w="22225">
            <a:solidFill>
              <a:srgbClr val="6B6B7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651760" y="2724912"/>
            <a:ext cx="3749039" cy="566928"/>
          </a:xfrm>
          <a:prstGeom prst="roundRect">
            <a:avLst>
              <a:gd name="adj" fmla="val 6000"/>
            </a:avLst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300" b="1">
                <a:solidFill>
                  <a:srgbClr val="232F3E"/>
                </a:solidFill>
                <a:latin typeface="Calibri"/>
              </a:rPr>
              <a:t>Bedrock Agent (Claude model)</a:t>
            </a:r>
          </a:p>
          <a:p>
            <a:pPr algn="ctr"/>
            <a:r>
              <a:rPr sz="900" b="0">
                <a:solidFill>
                  <a:srgbClr val="232F3E"/>
                </a:solidFill>
                <a:latin typeface="Calibri"/>
              </a:rPr>
              <a:t>Guardrail attached: content filters • PII • denied topics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4526279.5" y="2542031"/>
            <a:ext cx="45720.5" cy="182881"/>
          </a:xfrm>
          <a:prstGeom prst="line">
            <a:avLst/>
          </a:prstGeom>
          <a:ln w="22225">
            <a:solidFill>
              <a:srgbClr val="6B6B7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65760" y="3611880"/>
            <a:ext cx="3566160" cy="502920"/>
          </a:xfrm>
          <a:prstGeom prst="roundRect">
            <a:avLst>
              <a:gd name="adj" fmla="val 6000"/>
            </a:avLst>
          </a:prstGeom>
          <a:solidFill>
            <a:srgbClr val="14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PolicyActionGroup</a:t>
            </a:r>
          </a:p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Function schema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2148840.0" y="3291840"/>
            <a:ext cx="2377439.5" cy="320040"/>
          </a:xfrm>
          <a:prstGeom prst="bentConnector3">
            <a:avLst/>
          </a:prstGeom>
          <a:ln w="19050">
            <a:solidFill>
              <a:srgbClr val="6B6B7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251960" y="3611880"/>
            <a:ext cx="3566160" cy="502920"/>
          </a:xfrm>
          <a:prstGeom prst="roundRect">
            <a:avLst>
              <a:gd name="adj" fmla="val 6000"/>
            </a:avLst>
          </a:prstGeom>
          <a:solidFill>
            <a:srgbClr val="14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ClaimsActionGroup</a:t>
            </a:r>
          </a:p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OpenAPI schema • confirmation required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26279.5" y="3291840"/>
            <a:ext cx="1508760.5" cy="320040"/>
          </a:xfrm>
          <a:prstGeom prst="bentConnector3">
            <a:avLst/>
          </a:prstGeom>
          <a:ln w="19050">
            <a:solidFill>
              <a:srgbClr val="6B6B7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138160" y="3611880"/>
            <a:ext cx="3566160" cy="502920"/>
          </a:xfrm>
          <a:prstGeom prst="roundRect">
            <a:avLst>
              <a:gd name="adj" fmla="val 6000"/>
            </a:avLst>
          </a:prstGeom>
          <a:solidFill>
            <a:srgbClr val="14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Knowledge Base</a:t>
            </a:r>
          </a:p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S3 Vectors storage — RAG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526279.5" y="3291840"/>
            <a:ext cx="5394960.5" cy="320040"/>
          </a:xfrm>
          <a:prstGeom prst="bentConnector3">
            <a:avLst/>
          </a:prstGeom>
          <a:ln w="19050">
            <a:solidFill>
              <a:srgbClr val="6B6B7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365760" y="4279392"/>
            <a:ext cx="3566160" cy="457200"/>
          </a:xfrm>
          <a:prstGeom prst="roundRect">
            <a:avLst>
              <a:gd name="adj" fmla="val 6000"/>
            </a:avLst>
          </a:prstGeom>
          <a:solidFill>
            <a:srgbClr val="14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Policy Lambda</a:t>
            </a:r>
          </a:p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verifyAndRetrievePolicy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148840.0" y="4114800"/>
            <a:ext cx="0.0" cy="164592"/>
          </a:xfrm>
          <a:prstGeom prst="line">
            <a:avLst/>
          </a:prstGeom>
          <a:ln w="15875">
            <a:solidFill>
              <a:srgbClr val="6B6B7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251960" y="4279392"/>
            <a:ext cx="3566160" cy="457200"/>
          </a:xfrm>
          <a:prstGeom prst="roundRect">
            <a:avLst>
              <a:gd name="adj" fmla="val 6000"/>
            </a:avLst>
          </a:prstGeom>
          <a:solidFill>
            <a:srgbClr val="14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Claims Lambda</a:t>
            </a:r>
          </a:p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createClaim • getClaimStatus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035040.0" y="4114800"/>
            <a:ext cx="0.0" cy="164592"/>
          </a:xfrm>
          <a:prstGeom prst="line">
            <a:avLst/>
          </a:prstGeom>
          <a:ln w="15875">
            <a:solidFill>
              <a:srgbClr val="6B6B7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138160" y="4279392"/>
            <a:ext cx="3566160" cy="457200"/>
          </a:xfrm>
          <a:prstGeom prst="roundRect">
            <a:avLst>
              <a:gd name="adj" fmla="val 6000"/>
            </a:avLst>
          </a:prstGeom>
          <a:solidFill>
            <a:srgbClr val="14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KB Source S3 Bucket</a:t>
            </a:r>
          </a:p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seed docs (versioned, encrypted)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921240.0" y="4114800"/>
            <a:ext cx="0.0" cy="164592"/>
          </a:xfrm>
          <a:prstGeom prst="line">
            <a:avLst/>
          </a:prstGeom>
          <a:ln w="15875">
            <a:solidFill>
              <a:srgbClr val="6B6B7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365760" y="4901184"/>
            <a:ext cx="3566160" cy="502920"/>
          </a:xfrm>
          <a:prstGeom prst="roundRect">
            <a:avLst>
              <a:gd name="adj" fmla="val 6000"/>
            </a:avLst>
          </a:prstGeom>
          <a:solidFill>
            <a:srgbClr val="14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Policies Table (DynamoDB)</a:t>
            </a:r>
          </a:p>
          <a:p>
            <a:pPr algn="ctr"/>
            <a:r>
              <a:rPr sz="780" b="0">
                <a:solidFill>
                  <a:srgbClr val="FFFFFF"/>
                </a:solidFill>
                <a:latin typeface="Calibri"/>
              </a:rPr>
              <a:t>GSIs • PITR • SSE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148840.0" y="4736592"/>
            <a:ext cx="0.0" cy="164592"/>
          </a:xfrm>
          <a:prstGeom prst="line">
            <a:avLst/>
          </a:prstGeom>
          <a:ln w="15875">
            <a:solidFill>
              <a:srgbClr val="6B6B7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4251960" y="4901184"/>
            <a:ext cx="3566160" cy="502920"/>
          </a:xfrm>
          <a:prstGeom prst="roundRect">
            <a:avLst>
              <a:gd name="adj" fmla="val 6000"/>
            </a:avLst>
          </a:prstGeom>
          <a:solidFill>
            <a:srgbClr val="14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Claims Table (DynamoDB)</a:t>
            </a:r>
          </a:p>
          <a:p>
            <a:pPr algn="ctr"/>
            <a:r>
              <a:rPr sz="780" b="0">
                <a:solidFill>
                  <a:srgbClr val="FFFFFF"/>
                </a:solidFill>
                <a:latin typeface="Calibri"/>
              </a:rPr>
              <a:t>GSIs • read-only cross-check of Policies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035040.0" y="4736592"/>
            <a:ext cx="0.0" cy="164592"/>
          </a:xfrm>
          <a:prstGeom prst="line">
            <a:avLst/>
          </a:prstGeom>
          <a:ln w="15875">
            <a:solidFill>
              <a:srgbClr val="6B6B7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8138160" y="4901184"/>
            <a:ext cx="3566160" cy="502920"/>
          </a:xfrm>
          <a:prstGeom prst="roundRect">
            <a:avLst>
              <a:gd name="adj" fmla="val 6000"/>
            </a:avLst>
          </a:prstGeom>
          <a:solidFill>
            <a:srgbClr val="14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S3 Event → KB Sync Lambda</a:t>
            </a:r>
          </a:p>
          <a:p>
            <a:pPr algn="ctr"/>
            <a:r>
              <a:rPr sz="780" b="0">
                <a:solidFill>
                  <a:srgbClr val="FFFFFF"/>
                </a:solidFill>
                <a:latin typeface="Calibri"/>
              </a:rPr>
              <a:t>StartIngestionJob (auto-sync)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921240.0" y="4736592"/>
            <a:ext cx="0.0" cy="164592"/>
          </a:xfrm>
          <a:prstGeom prst="line">
            <a:avLst/>
          </a:prstGeom>
          <a:ln w="15875">
            <a:solidFill>
              <a:srgbClr val="6B6B7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11521440" y="4133088"/>
            <a:ext cx="0" cy="768096"/>
          </a:xfrm>
          <a:prstGeom prst="bentConnector3">
            <a:avLst/>
          </a:prstGeom>
          <a:ln w="12700">
            <a:solidFill>
              <a:srgbClr val="146EB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3657600" y="4736592"/>
            <a:ext cx="868680" cy="164592"/>
          </a:xfrm>
          <a:prstGeom prst="line">
            <a:avLst/>
          </a:prstGeom>
          <a:ln w="12700">
            <a:solidFill>
              <a:srgbClr val="6B6B76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365760" y="5367528"/>
            <a:ext cx="2743200" cy="228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6B6B76"/>
                </a:solidFill>
                <a:latin typeface="Calibri"/>
              </a:rPr>
              <a:t>CROSS-CUTTING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5760" y="5623560"/>
            <a:ext cx="2108606" cy="713232"/>
          </a:xfrm>
          <a:prstGeom prst="roundRect">
            <a:avLst>
              <a:gd name="adj" fmla="val 6000"/>
            </a:avLst>
          </a:prstGeom>
          <a:solidFill>
            <a:srgbClr val="6B6B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IAM Roles</a:t>
            </a:r>
          </a:p>
          <a:p>
            <a:pPr algn="ctr"/>
            <a:r>
              <a:rPr sz="750" b="0">
                <a:solidFill>
                  <a:srgbClr val="FFFFFF"/>
                </a:solidFill>
                <a:latin typeface="Calibri"/>
              </a:rPr>
              <a:t>least-privilege + supplemental grants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702966" y="5623560"/>
            <a:ext cx="2108606" cy="713232"/>
          </a:xfrm>
          <a:prstGeom prst="roundRect">
            <a:avLst>
              <a:gd name="adj" fmla="val 6000"/>
            </a:avLst>
          </a:prstGeom>
          <a:solidFill>
            <a:srgbClr val="6B6B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KMS CMK</a:t>
            </a:r>
          </a:p>
          <a:p>
            <a:pPr algn="ctr"/>
            <a:r>
              <a:rPr sz="750" b="0">
                <a:solidFill>
                  <a:srgbClr val="FFFFFF"/>
                </a:solidFill>
                <a:latin typeface="Calibri"/>
              </a:rPr>
              <a:t>encrypts CloudWatch Logs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40172" y="5623560"/>
            <a:ext cx="2108606" cy="713232"/>
          </a:xfrm>
          <a:prstGeom prst="roundRect">
            <a:avLst>
              <a:gd name="adj" fmla="val 6000"/>
            </a:avLst>
          </a:prstGeom>
          <a:solidFill>
            <a:srgbClr val="6B6B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CloudWatch</a:t>
            </a:r>
          </a:p>
          <a:p>
            <a:pPr algn="ctr"/>
            <a:r>
              <a:rPr sz="750" b="0">
                <a:solidFill>
                  <a:srgbClr val="FFFFFF"/>
                </a:solidFill>
                <a:latin typeface="Calibri"/>
              </a:rPr>
              <a:t>alarms + overview dashboard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77379" y="5623560"/>
            <a:ext cx="2108606" cy="713232"/>
          </a:xfrm>
          <a:prstGeom prst="roundRect">
            <a:avLst>
              <a:gd name="adj" fmla="val 6000"/>
            </a:avLst>
          </a:prstGeom>
          <a:solidFill>
            <a:srgbClr val="6B6B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SNS Topic</a:t>
            </a:r>
          </a:p>
          <a:p>
            <a:pPr algn="ctr"/>
            <a:r>
              <a:rPr sz="750" b="0">
                <a:solidFill>
                  <a:srgbClr val="FFFFFF"/>
                </a:solidFill>
                <a:latin typeface="Calibri"/>
              </a:rPr>
              <a:t>alarm notifications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714585" y="5623560"/>
            <a:ext cx="2108606" cy="713232"/>
          </a:xfrm>
          <a:prstGeom prst="roundRect">
            <a:avLst>
              <a:gd name="adj" fmla="val 6000"/>
            </a:avLst>
          </a:prstGeom>
          <a:solidFill>
            <a:srgbClr val="6B6B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X-Ray</a:t>
            </a:r>
          </a:p>
          <a:p>
            <a:pPr algn="ctr"/>
            <a:r>
              <a:rPr sz="750" b="0">
                <a:solidFill>
                  <a:srgbClr val="FFFFFF"/>
                </a:solidFill>
                <a:latin typeface="Calibri"/>
              </a:rPr>
              <a:t>distributed tracing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778240" y="1234440"/>
            <a:ext cx="201168" cy="201168"/>
          </a:xfrm>
          <a:prstGeom prst="roundRect">
            <a:avLst>
              <a:gd name="adj" fmla="val 6000"/>
            </a:avLst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52560" y="1207008"/>
            <a:ext cx="18288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A5F6B"/>
                </a:solidFill>
                <a:latin typeface="Calibri"/>
              </a:rPr>
              <a:t>Edge / Auth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652759" y="1234440"/>
            <a:ext cx="201168" cy="201168"/>
          </a:xfrm>
          <a:prstGeom prst="roundRect">
            <a:avLst>
              <a:gd name="adj" fmla="val 6000"/>
            </a:avLst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927079" y="1207008"/>
            <a:ext cx="18288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A5F6B"/>
                </a:solidFill>
                <a:latin typeface="Calibri"/>
              </a:rPr>
              <a:t>Orchestration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778240" y="1481328"/>
            <a:ext cx="201168" cy="201168"/>
          </a:xfrm>
          <a:prstGeom prst="roundRect">
            <a:avLst>
              <a:gd name="adj" fmla="val 6000"/>
            </a:avLst>
          </a:prstGeom>
          <a:solidFill>
            <a:srgbClr val="14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52560" y="1453896"/>
            <a:ext cx="18288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A5F6B"/>
                </a:solidFill>
                <a:latin typeface="Calibri"/>
              </a:rPr>
              <a:t>Data / Storage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652759" y="1481328"/>
            <a:ext cx="201168" cy="201168"/>
          </a:xfrm>
          <a:prstGeom prst="roundRect">
            <a:avLst>
              <a:gd name="adj" fmla="val 6000"/>
            </a:avLst>
          </a:prstGeom>
          <a:solidFill>
            <a:srgbClr val="6B6B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927079" y="1453896"/>
            <a:ext cx="18288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A5F6B"/>
                </a:solidFill>
                <a:latin typeface="Calibri"/>
              </a:rPr>
              <a:t>Cross-cutting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5488" y="6528816"/>
            <a:ext cx="54864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5F6B"/>
                </a:solidFill>
                <a:latin typeface="Calibri"/>
              </a:rPr>
              <a:t>AutoClaim IQ  |  AWS Bedrock Agents Platform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5F6B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46304" cy="6858000"/>
          </a:xfrm>
          <a:prstGeom prst="roundRect">
            <a:avLst>
              <a:gd name="adj" fmla="val 6000"/>
            </a:avLst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73152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9900"/>
                </a:solidFill>
                <a:latin typeface="Calibri"/>
              </a:rPr>
              <a:t>INFRASTRUCTURE AS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530352"/>
            <a:ext cx="1115568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232F3E"/>
                </a:solidFill>
                <a:latin typeface="Calibri"/>
              </a:rPr>
              <a:t>12 independently-testable Terraform modules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70432"/>
            <a:ext cx="1051560" cy="44450"/>
          </a:xfrm>
          <a:prstGeom prst="roundRect">
            <a:avLst>
              <a:gd name="adj" fmla="val 6000"/>
            </a:avLst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463040"/>
            <a:ext cx="2715768" cy="141732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463040"/>
            <a:ext cx="82296" cy="1417320"/>
          </a:xfrm>
          <a:prstGeom prst="roundRect">
            <a:avLst>
              <a:gd name="adj" fmla="val 6000"/>
            </a:avLst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572768"/>
            <a:ext cx="2395728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32F3E"/>
                </a:solidFill>
                <a:latin typeface="Calibri"/>
              </a:rPr>
              <a:t>api-gateway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1920240"/>
            <a:ext cx="2395728" cy="868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A5F6B"/>
                </a:solidFill>
                <a:latin typeface="Calibri"/>
              </a:rPr>
              <a:t>HTTP API, Cognito JWT authorizer, route/stage, access logs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55848" y="1463040"/>
            <a:ext cx="2715768" cy="141732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55848" y="1463040"/>
            <a:ext cx="82296" cy="1417320"/>
          </a:xfrm>
          <a:prstGeom prst="roundRect">
            <a:avLst>
              <a:gd name="adj" fmla="val 6000"/>
            </a:avLst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57016" y="1572768"/>
            <a:ext cx="2395728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32F3E"/>
                </a:solidFill>
                <a:latin typeface="Calibri"/>
              </a:rPr>
              <a:t>cognito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57016" y="1920240"/>
            <a:ext cx="2395728" cy="868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A5F6B"/>
                </a:solidFill>
                <a:latin typeface="Calibri"/>
              </a:rPr>
              <a:t>User pool (password policy, MFA), app client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463040"/>
            <a:ext cx="2715768" cy="141732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08776" y="1463040"/>
            <a:ext cx="82296" cy="1417320"/>
          </a:xfrm>
          <a:prstGeom prst="roundRect">
            <a:avLst>
              <a:gd name="adj" fmla="val 6000"/>
            </a:avLst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9944" y="1572768"/>
            <a:ext cx="2395728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32F3E"/>
                </a:solidFill>
                <a:latin typeface="Calibri"/>
              </a:rPr>
              <a:t>bedrock-agent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9944" y="1920240"/>
            <a:ext cx="2395728" cy="868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A5F6B"/>
                </a:solidFill>
                <a:latin typeface="Calibri"/>
              </a:rPr>
              <a:t>Agent, both Action Groups, KB association, alias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61704" y="1463040"/>
            <a:ext cx="2715768" cy="141732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061704" y="1463040"/>
            <a:ext cx="82296" cy="1417320"/>
          </a:xfrm>
          <a:prstGeom prst="roundRect">
            <a:avLst>
              <a:gd name="adj" fmla="val 6000"/>
            </a:avLst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62872" y="1572768"/>
            <a:ext cx="2395728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32F3E"/>
                </a:solidFill>
                <a:latin typeface="Calibri"/>
              </a:rPr>
              <a:t>guardrails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62872" y="1920240"/>
            <a:ext cx="2395728" cy="868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A5F6B"/>
                </a:solidFill>
                <a:latin typeface="Calibri"/>
              </a:rPr>
              <a:t>Content filters, PII handling, denied topics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044952"/>
            <a:ext cx="2715768" cy="141732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02920" y="3044952"/>
            <a:ext cx="82296" cy="1417320"/>
          </a:xfrm>
          <a:prstGeom prst="roundRect">
            <a:avLst>
              <a:gd name="adj" fmla="val 6000"/>
            </a:avLst>
          </a:prstGeom>
          <a:solidFill>
            <a:srgbClr val="14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4088" y="3154680"/>
            <a:ext cx="2395728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32F3E"/>
                </a:solidFill>
                <a:latin typeface="Calibri"/>
              </a:rPr>
              <a:t>kb-s3vectors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" y="3502152"/>
            <a:ext cx="2395728" cy="868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A5F6B"/>
                </a:solidFill>
                <a:latin typeface="Calibri"/>
              </a:rPr>
              <a:t>S3 Vectors bucket/index, Knowledge Base, data source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55848" y="3044952"/>
            <a:ext cx="2715768" cy="141732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55848" y="3044952"/>
            <a:ext cx="82296" cy="1417320"/>
          </a:xfrm>
          <a:prstGeom prst="roundRect">
            <a:avLst>
              <a:gd name="adj" fmla="val 6000"/>
            </a:avLst>
          </a:prstGeom>
          <a:solidFill>
            <a:srgbClr val="14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57016" y="3154680"/>
            <a:ext cx="2395728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32F3E"/>
                </a:solidFill>
                <a:latin typeface="Calibri"/>
              </a:rPr>
              <a:t>kb-sync-lambda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57016" y="3502152"/>
            <a:ext cx="2395728" cy="868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A5F6B"/>
                </a:solidFill>
                <a:latin typeface="Calibri"/>
              </a:rPr>
              <a:t>S3 bucket notification → sync Lambda wiring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08776" y="3044952"/>
            <a:ext cx="2715768" cy="141732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208776" y="3044952"/>
            <a:ext cx="82296" cy="1417320"/>
          </a:xfrm>
          <a:prstGeom prst="roundRect">
            <a:avLst>
              <a:gd name="adj" fmla="val 6000"/>
            </a:avLst>
          </a:prstGeom>
          <a:solidFill>
            <a:srgbClr val="14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9944" y="3154680"/>
            <a:ext cx="2395728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32F3E"/>
                </a:solidFill>
                <a:latin typeface="Calibri"/>
              </a:rPr>
              <a:t>dynamodb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9944" y="3502152"/>
            <a:ext cx="2395728" cy="868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A5F6B"/>
                </a:solidFill>
                <a:latin typeface="Calibri"/>
              </a:rPr>
              <a:t>Policies + Claims tables, GSIs, PITR, SSE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61704" y="3044952"/>
            <a:ext cx="2715768" cy="141732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061704" y="3044952"/>
            <a:ext cx="82296" cy="1417320"/>
          </a:xfrm>
          <a:prstGeom prst="roundRect">
            <a:avLst>
              <a:gd name="adj" fmla="val 6000"/>
            </a:avLst>
          </a:prstGeom>
          <a:solidFill>
            <a:srgbClr val="14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62872" y="3154680"/>
            <a:ext cx="2395728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32F3E"/>
                </a:solidFill>
                <a:latin typeface="Calibri"/>
              </a:rPr>
              <a:t>s3-secure-bucket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62872" y="3502152"/>
            <a:ext cx="2395728" cy="868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A5F6B"/>
                </a:solidFill>
                <a:latin typeface="Calibri"/>
              </a:rPr>
              <a:t>Hardened, reusable S3 bucket baseline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2920" y="4626864"/>
            <a:ext cx="2715768" cy="141732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502920" y="4626864"/>
            <a:ext cx="82296" cy="1417320"/>
          </a:xfrm>
          <a:prstGeom prst="roundRect">
            <a:avLst>
              <a:gd name="adj" fmla="val 6000"/>
            </a:avLst>
          </a:prstGeom>
          <a:solidFill>
            <a:srgbClr val="6B6B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04088" y="4736592"/>
            <a:ext cx="2395728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32F3E"/>
                </a:solidFill>
                <a:latin typeface="Calibri"/>
              </a:rPr>
              <a:t>lambda-function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4088" y="5084064"/>
            <a:ext cx="2395728" cy="868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A5F6B"/>
                </a:solidFill>
                <a:latin typeface="Calibri"/>
              </a:rPr>
              <a:t>Reusable Lambda baseline (package, logs, tracing)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355848" y="4626864"/>
            <a:ext cx="2715768" cy="141732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3355848" y="4626864"/>
            <a:ext cx="82296" cy="1417320"/>
          </a:xfrm>
          <a:prstGeom prst="roundRect">
            <a:avLst>
              <a:gd name="adj" fmla="val 6000"/>
            </a:avLst>
          </a:prstGeom>
          <a:solidFill>
            <a:srgbClr val="6B6B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557016" y="4736592"/>
            <a:ext cx="2395728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32F3E"/>
                </a:solidFill>
                <a:latin typeface="Calibri"/>
              </a:rPr>
              <a:t>iam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57016" y="5084064"/>
            <a:ext cx="2395728" cy="868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A5F6B"/>
                </a:solidFill>
                <a:latin typeface="Calibri"/>
              </a:rPr>
              <a:t>Central role definitions + base permissions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08776" y="4626864"/>
            <a:ext cx="2715768" cy="141732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208776" y="4626864"/>
            <a:ext cx="82296" cy="1417320"/>
          </a:xfrm>
          <a:prstGeom prst="roundRect">
            <a:avLst>
              <a:gd name="adj" fmla="val 6000"/>
            </a:avLst>
          </a:prstGeom>
          <a:solidFill>
            <a:srgbClr val="6B6B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9944" y="4736592"/>
            <a:ext cx="2395728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32F3E"/>
                </a:solidFill>
                <a:latin typeface="Calibri"/>
              </a:rPr>
              <a:t>kms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9944" y="5084064"/>
            <a:ext cx="2395728" cy="868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A5F6B"/>
                </a:solidFill>
                <a:latin typeface="Calibri"/>
              </a:rPr>
              <a:t>CMK for CloudWatch Log Group encryption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061704" y="4626864"/>
            <a:ext cx="2715768" cy="141732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9061704" y="4626864"/>
            <a:ext cx="82296" cy="1417320"/>
          </a:xfrm>
          <a:prstGeom prst="roundRect">
            <a:avLst>
              <a:gd name="adj" fmla="val 6000"/>
            </a:avLst>
          </a:prstGeom>
          <a:solidFill>
            <a:srgbClr val="6B6B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262872" y="4736592"/>
            <a:ext cx="2395728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32F3E"/>
                </a:solidFill>
                <a:latin typeface="Calibri"/>
              </a:rPr>
              <a:t>observability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62872" y="5084064"/>
            <a:ext cx="2395728" cy="868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A5F6B"/>
                </a:solidFill>
                <a:latin typeface="Calibri"/>
              </a:rPr>
              <a:t>Alarms, SNS topic, overview dashboard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75488" y="6528816"/>
            <a:ext cx="54864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5F6B"/>
                </a:solidFill>
                <a:latin typeface="Calibri"/>
              </a:rPr>
              <a:t>AutoClaim IQ  |  AWS Bedrock Agents Platform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5F6B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46304" cy="6858000"/>
          </a:xfrm>
          <a:prstGeom prst="roundRect">
            <a:avLst>
              <a:gd name="adj" fmla="val 6000"/>
            </a:avLst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73152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9900"/>
                </a:solidFill>
                <a:latin typeface="Calibri"/>
              </a:rPr>
              <a:t>BEDROCK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530352"/>
            <a:ext cx="1115568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232F3E"/>
                </a:solidFill>
                <a:latin typeface="Calibri"/>
              </a:rPr>
              <a:t>Two Action Groups + a Knowledge Base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70432"/>
            <a:ext cx="1051560" cy="44450"/>
          </a:xfrm>
          <a:prstGeom prst="roundRect">
            <a:avLst>
              <a:gd name="adj" fmla="val 6000"/>
            </a:avLst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508760"/>
            <a:ext cx="3520440" cy="466344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508760"/>
            <a:ext cx="3520440" cy="457200"/>
          </a:xfrm>
          <a:prstGeom prst="roundRect">
            <a:avLst>
              <a:gd name="adj" fmla="val 6000"/>
            </a:avLst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08760"/>
            <a:ext cx="352044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PolicyActionGroup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31546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100" b="0">
                <a:solidFill>
                  <a:srgbClr val="16191F"/>
                </a:solidFill>
                <a:latin typeface="Calibri"/>
              </a:rPr>
              <a:t>•  Function schema (not OpenAPI)</a:t>
            </a:r>
          </a:p>
          <a:p>
            <a:pPr>
              <a:spcAft>
                <a:spcPts val="900"/>
              </a:spcAft>
            </a:pPr>
            <a:r>
              <a:rPr sz="1100" b="0">
                <a:solidFill>
                  <a:srgbClr val="16191F"/>
                </a:solidFill>
                <a:latin typeface="Calibri"/>
              </a:rPr>
              <a:t>•  verifyAndRetrievePolicy(policyNumber, lastName)</a:t>
            </a:r>
          </a:p>
          <a:p>
            <a:pPr>
              <a:spcAft>
                <a:spcPts val="900"/>
              </a:spcAft>
            </a:pPr>
            <a:r>
              <a:rPr sz="1100" b="0">
                <a:solidFill>
                  <a:srgbClr val="16191F"/>
                </a:solidFill>
                <a:latin typeface="Calibri"/>
              </a:rPr>
              <a:t>•  event["parameters"] in → response.functionResponse.responseBody.TEXT.body out</a:t>
            </a:r>
          </a:p>
          <a:p>
            <a:pPr>
              <a:spcAft>
                <a:spcPts val="900"/>
              </a:spcAft>
            </a:pPr>
            <a:r>
              <a:rPr sz="1100" b="0">
                <a:solidFill>
                  <a:srgbClr val="16191F"/>
                </a:solidFill>
                <a:latin typeface="Calibri"/>
              </a:rPr>
              <a:t>•  Backed by Policy Lambda, reads Policies table (DynamoDB) only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508760"/>
            <a:ext cx="3520440" cy="466344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06240" y="1508760"/>
            <a:ext cx="3520440" cy="457200"/>
          </a:xfrm>
          <a:prstGeom prst="roundRect">
            <a:avLst>
              <a:gd name="adj" fmla="val 6000"/>
            </a:avLst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0" y="1508760"/>
            <a:ext cx="352044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ClaimsActionGroup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103120"/>
            <a:ext cx="31546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100" b="0">
                <a:solidFill>
                  <a:srgbClr val="16191F"/>
                </a:solidFill>
                <a:latin typeface="Calibri"/>
              </a:rPr>
              <a:t>•  OpenAPI schema: schemas/claims-openapi.yaml</a:t>
            </a:r>
          </a:p>
          <a:p>
            <a:pPr>
              <a:spcAft>
                <a:spcPts val="900"/>
              </a:spcAft>
            </a:pPr>
            <a:r>
              <a:rPr sz="1100" b="0">
                <a:solidFill>
                  <a:srgbClr val="16191F"/>
                </a:solidFill>
                <a:latin typeface="Calibri"/>
              </a:rPr>
              <a:t>•  createClaim (POST /claims) — x-requireConfirmation: ENABLED</a:t>
            </a:r>
          </a:p>
          <a:p>
            <a:pPr>
              <a:spcAft>
                <a:spcPts val="900"/>
              </a:spcAft>
            </a:pPr>
            <a:r>
              <a:rPr sz="1100" b="0">
                <a:solidFill>
                  <a:srgbClr val="16191F"/>
                </a:solidFill>
                <a:latin typeface="Calibri"/>
              </a:rPr>
              <a:t>•  getClaimStatus (GET /claims/{claimNumber})</a:t>
            </a:r>
          </a:p>
          <a:p>
            <a:pPr>
              <a:spcAft>
                <a:spcPts val="900"/>
              </a:spcAft>
            </a:pPr>
            <a:r>
              <a:rPr sz="1100" b="0">
                <a:solidFill>
                  <a:srgbClr val="16191F"/>
                </a:solidFill>
                <a:latin typeface="Calibri"/>
              </a:rPr>
              <a:t>•  event["apiPath"]/["httpMethod"] in → responseBody["application/json"] + httpStatusCode out</a:t>
            </a:r>
          </a:p>
          <a:p>
            <a:pPr>
              <a:spcAft>
                <a:spcPts val="900"/>
              </a:spcAft>
            </a:pPr>
            <a:r>
              <a:rPr sz="1100" b="0">
                <a:solidFill>
                  <a:srgbClr val="16191F"/>
                </a:solidFill>
                <a:latin typeface="Calibri"/>
              </a:rPr>
              <a:t>•  Conditional PutItem (attribute_not_exists) for idempotency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09560" y="1508760"/>
            <a:ext cx="3520440" cy="466344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909560" y="1508760"/>
            <a:ext cx="3520440" cy="457200"/>
          </a:xfrm>
          <a:prstGeom prst="roundRect">
            <a:avLst>
              <a:gd name="adj" fmla="val 6000"/>
            </a:avLst>
          </a:prstGeom>
          <a:solidFill>
            <a:srgbClr val="14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09560" y="1508760"/>
            <a:ext cx="352044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Knowledge 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2103120"/>
            <a:ext cx="31546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100" b="0">
                <a:solidFill>
                  <a:srgbClr val="16191F"/>
                </a:solidFill>
                <a:latin typeface="Calibri"/>
              </a:rPr>
              <a:t>•  Storage: S3 Vectors (S3_VECTORS storage config)</a:t>
            </a:r>
          </a:p>
          <a:p>
            <a:pPr>
              <a:spcAft>
                <a:spcPts val="900"/>
              </a:spcAft>
            </a:pPr>
            <a:r>
              <a:rPr sz="1100" b="0">
                <a:solidFill>
                  <a:srgbClr val="16191F"/>
                </a:solidFill>
                <a:latin typeface="Calibri"/>
              </a:rPr>
              <a:t>•  Source: versioned/encrypted S3 bucket of seed docs</a:t>
            </a:r>
          </a:p>
          <a:p>
            <a:pPr>
              <a:spcAft>
                <a:spcPts val="900"/>
              </a:spcAft>
            </a:pPr>
            <a:r>
              <a:rPr sz="1100" b="0">
                <a:solidFill>
                  <a:srgbClr val="16191F"/>
                </a:solidFill>
                <a:latin typeface="Calibri"/>
              </a:rPr>
              <a:t>•  Event-driven auto-sync: S3 upload → Sync Lambda → StartIngestionJob</a:t>
            </a:r>
          </a:p>
          <a:p>
            <a:pPr>
              <a:spcAft>
                <a:spcPts val="900"/>
              </a:spcAft>
            </a:pPr>
            <a:r>
              <a:rPr sz="1100" b="0">
                <a:solidFill>
                  <a:srgbClr val="16191F"/>
                </a:solidFill>
                <a:latin typeface="Calibri"/>
              </a:rPr>
              <a:t>•  No manual “Sync” click required after make upload-kb-docs</a:t>
            </a:r>
          </a:p>
          <a:p>
            <a:pPr>
              <a:spcAft>
                <a:spcPts val="900"/>
              </a:spcAft>
            </a:pPr>
            <a:r>
              <a:rPr sz="1100" b="0">
                <a:solidFill>
                  <a:srgbClr val="16191F"/>
                </a:solidFill>
                <a:latin typeface="Calibri"/>
              </a:rPr>
              <a:t>•  Answers coverage/FAQ questions via RAG retrieval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" y="6528816"/>
            <a:ext cx="54864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5F6B"/>
                </a:solidFill>
                <a:latin typeface="Calibri"/>
              </a:rPr>
              <a:t>AutoClaim IQ  |  AWS Bedrock Agents Platform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5F6B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46304" cy="6858000"/>
          </a:xfrm>
          <a:prstGeom prst="roundRect">
            <a:avLst>
              <a:gd name="adj" fmla="val 6000"/>
            </a:avLst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73152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9900"/>
                </a:solidFill>
                <a:latin typeface="Calibri"/>
              </a:rPr>
              <a:t>SECURITY &amp; IAM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530352"/>
            <a:ext cx="1115568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232F3E"/>
                </a:solidFill>
                <a:latin typeface="Calibri"/>
              </a:rPr>
              <a:t>Identity boundaries and the IAM-cycle-avoidance pattern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70432"/>
            <a:ext cx="1051560" cy="44450"/>
          </a:xfrm>
          <a:prstGeom prst="roundRect">
            <a:avLst>
              <a:gd name="adj" fmla="val 6000"/>
            </a:avLst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300" b="0">
                <a:solidFill>
                  <a:srgbClr val="16191F"/>
                </a:solidFill>
                <a:latin typeface="Calibri"/>
              </a:rPr>
              <a:t>•  Session identity is derived, not client-supplied: sessionId = sha256(Cognito sub), preventing one user from addressing another user's agent conversation.</a:t>
            </a:r>
          </a:p>
          <a:p>
            <a:pPr>
              <a:spcAft>
                <a:spcPts val="1100"/>
              </a:spcAft>
            </a:pPr>
            <a:r>
              <a:rPr sz="1300" b="0">
                <a:solidFill>
                  <a:srgbClr val="16191F"/>
                </a:solidFill>
                <a:latin typeface="Calibri"/>
              </a:rPr>
              <a:t>•  Cognito JWT authorizer sits in front of every API Gateway route — no unauthenticated entry points.</a:t>
            </a:r>
          </a:p>
          <a:p>
            <a:pPr>
              <a:spcAft>
                <a:spcPts val="1100"/>
              </a:spcAft>
            </a:pPr>
            <a:r>
              <a:rPr sz="1300" b="0">
                <a:solidFill>
                  <a:srgbClr val="16191F"/>
                </a:solidFill>
                <a:latin typeface="Calibri"/>
              </a:rPr>
              <a:t>•  IAM is centralized in the iam module, except three resources with AWS-generated ARNs that would create circular dependencies:</a:t>
            </a:r>
          </a:p>
          <a:p>
            <a:pPr>
              <a:spcAft>
                <a:spcPts val="1100"/>
              </a:spcAft>
            </a:pPr>
            <a:r>
              <a:rPr sz="1150" b="0">
                <a:solidFill>
                  <a:srgbClr val="5A5F6B"/>
                </a:solidFill>
                <a:latin typeface="Calibri"/>
              </a:rPr>
              <a:t>      –  Knowledge Base → agent's Retrieve/RetrieveAndGenerate + sync Lambda's StartIngestionJob</a:t>
            </a:r>
          </a:p>
          <a:p>
            <a:pPr>
              <a:spcAft>
                <a:spcPts val="1100"/>
              </a:spcAft>
            </a:pPr>
            <a:r>
              <a:rPr sz="1150" b="0">
                <a:solidFill>
                  <a:srgbClr val="5A5F6B"/>
                </a:solidFill>
                <a:latin typeface="Calibri"/>
              </a:rPr>
              <a:t>      –  Bedrock Agent/alias → client-API role's InvokeAgent</a:t>
            </a:r>
          </a:p>
          <a:p>
            <a:pPr>
              <a:spcAft>
                <a:spcPts val="1100"/>
              </a:spcAft>
            </a:pPr>
            <a:r>
              <a:rPr sz="1300" b="0">
                <a:solidFill>
                  <a:srgbClr val="16191F"/>
                </a:solidFill>
                <a:latin typeface="Calibri"/>
              </a:rPr>
              <a:t>•  Fix: the resource-owning module (kb-s3vectors, bedrock-agent) attaches a small supplemental aws_iam_role_policy directly, using its own just-created ARN.</a:t>
            </a:r>
          </a:p>
          <a:p>
            <a:pPr>
              <a:spcAft>
                <a:spcPts val="1100"/>
              </a:spcAft>
            </a:pPr>
            <a:r>
              <a:rPr sz="1300" b="0">
                <a:solidFill>
                  <a:srgbClr val="16191F"/>
                </a:solidFill>
                <a:latin typeface="Calibri"/>
              </a:rPr>
              <a:t>•  Lambda ARNs are passed into iam as name strings (computed locals), reassembled via interpolation — the same trick applied one level earlier.</a:t>
            </a:r>
          </a:p>
          <a:p>
            <a:pPr>
              <a:spcAft>
                <a:spcPts val="1100"/>
              </a:spcAft>
            </a:pPr>
            <a:r>
              <a:rPr sz="1300" b="0">
                <a:solidFill>
                  <a:srgbClr val="16191F"/>
                </a:solidFill>
                <a:latin typeface="Calibri"/>
              </a:rPr>
              <a:t>•  docs/iam-matrix.md is the authoritative combined view of every role's permissions.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463040"/>
            <a:ext cx="5349240" cy="470916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645920"/>
            <a:ext cx="475488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32F3E"/>
                </a:solidFill>
                <a:latin typeface="Calibri"/>
              </a:rPr>
              <a:t>Guardrail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011680"/>
            <a:ext cx="4800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16191F"/>
                </a:solidFill>
                <a:latin typeface="Calibri"/>
              </a:rPr>
              <a:t>•  Content filters on harmful categories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16191F"/>
                </a:solidFill>
                <a:latin typeface="Calibri"/>
              </a:rPr>
              <a:t>•  PII entity handling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16191F"/>
                </a:solidFill>
                <a:latin typeface="Calibri"/>
              </a:rPr>
              <a:t>•  Denied topics list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16191F"/>
                </a:solidFill>
                <a:latin typeface="Calibri"/>
              </a:rPr>
              <a:t>•  First draft — pending legal/compliance review, not finalized policy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3977639"/>
            <a:ext cx="4480560" cy="19050"/>
          </a:xfrm>
          <a:prstGeom prst="roundRect">
            <a:avLst>
              <a:gd name="adj" fmla="val 6000"/>
            </a:avLst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4160520"/>
            <a:ext cx="475488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32F3E"/>
                </a:solidFill>
                <a:latin typeface="Calibri"/>
              </a:rPr>
              <a:t>Confirmation gate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4526280"/>
            <a:ext cx="4800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16191F"/>
                </a:solidFill>
                <a:latin typeface="Calibri"/>
              </a:rPr>
              <a:t>•  createClaim confirmation is declared in the OpenAPI schema, not Terraform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16191F"/>
                </a:solidFill>
                <a:latin typeface="Calibri"/>
              </a:rPr>
              <a:t>•  Bedrock withholds the Lambda invocation until the end user confirms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16191F"/>
                </a:solidFill>
                <a:latin typeface="Calibri"/>
              </a:rPr>
              <a:t>•  Claims Lambda never sees a “pending” state — it is invoked once, post-confirmation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6528816"/>
            <a:ext cx="54864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5F6B"/>
                </a:solidFill>
                <a:latin typeface="Calibri"/>
              </a:rPr>
              <a:t>AutoClaim IQ  |  AWS Bedrock Agents Platform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5F6B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46304" cy="6858000"/>
          </a:xfrm>
          <a:prstGeom prst="roundRect">
            <a:avLst>
              <a:gd name="adj" fmla="val 6000"/>
            </a:avLst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73152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9900"/>
                </a:solidFill>
                <a:latin typeface="Calibri"/>
              </a:rPr>
              <a:t>DATA &amp; OBSERVABILITY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530352"/>
            <a:ext cx="1115568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232F3E"/>
                </a:solidFill>
                <a:latin typeface="Calibri"/>
              </a:rPr>
              <a:t>DynamoDB business data, alarms, and tracing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70432"/>
            <a:ext cx="1051560" cy="44450"/>
          </a:xfrm>
          <a:prstGeom prst="roundRect">
            <a:avLst>
              <a:gd name="adj" fmla="val 6000"/>
            </a:avLst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463040"/>
            <a:ext cx="5577840" cy="470916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45920"/>
            <a:ext cx="50292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32F3E"/>
                </a:solidFill>
                <a:latin typeface="Calibri"/>
              </a:rPr>
              <a:t>Data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50292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300" b="0">
                <a:solidFill>
                  <a:srgbClr val="16191F"/>
                </a:solidFill>
                <a:latin typeface="Calibri"/>
              </a:rPr>
              <a:t>•  Policies table (DynamoDB) — seeded from data-seed/sample-data/policies.json</a:t>
            </a:r>
          </a:p>
          <a:p>
            <a:pPr>
              <a:spcAft>
                <a:spcPts val="1200"/>
              </a:spcAft>
            </a:pPr>
            <a:r>
              <a:rPr sz="1300" b="0">
                <a:solidFill>
                  <a:srgbClr val="16191F"/>
                </a:solidFill>
                <a:latin typeface="Calibri"/>
              </a:rPr>
              <a:t>•  Claims table (DynamoDB) — GSIs for lookup, read-only cross-check against Policies before a claim is created</a:t>
            </a:r>
          </a:p>
          <a:p>
            <a:pPr>
              <a:spcAft>
                <a:spcPts val="1200"/>
              </a:spcAft>
            </a:pPr>
            <a:r>
              <a:rPr sz="1300" b="0">
                <a:solidFill>
                  <a:srgbClr val="16191F"/>
                </a:solidFill>
                <a:latin typeface="Calibri"/>
              </a:rPr>
              <a:t>•  Both tables: point-in-time recovery, server-side encryption, prevent_destroy</a:t>
            </a:r>
          </a:p>
          <a:p>
            <a:pPr>
              <a:spcAft>
                <a:spcPts val="1200"/>
              </a:spcAft>
            </a:pPr>
            <a:r>
              <a:rPr sz="1300" b="0">
                <a:solidFill>
                  <a:srgbClr val="16191F"/>
                </a:solidFill>
                <a:latin typeface="Calibri"/>
              </a:rPr>
              <a:t>•  S3 Vectors bucket/index for the Knowledge Base's embeddings</a:t>
            </a:r>
          </a:p>
          <a:p>
            <a:pPr>
              <a:spcAft>
                <a:spcPts val="1200"/>
              </a:spcAft>
            </a:pPr>
            <a:r>
              <a:rPr sz="1300" b="0">
                <a:solidFill>
                  <a:srgbClr val="16191F"/>
                </a:solidFill>
                <a:latin typeface="Calibri"/>
              </a:rPr>
              <a:t>•  KB source bucket + schema bucket: versioned, encrypted, public access blocked, deny-non-TLS policy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463040"/>
            <a:ext cx="5349240" cy="470916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645920"/>
            <a:ext cx="48006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32F3E"/>
                </a:solidFill>
                <a:latin typeface="Calibri"/>
              </a:rPr>
              <a:t>Observability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103120"/>
            <a:ext cx="48006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300" b="0">
                <a:solidFill>
                  <a:srgbClr val="16191F"/>
                </a:solidFill>
                <a:latin typeface="Calibri"/>
              </a:rPr>
              <a:t>•  Per-Lambda alarms: errors, throttles, duration (all 4 services)</a:t>
            </a:r>
          </a:p>
          <a:p>
            <a:pPr>
              <a:spcAft>
                <a:spcPts val="1200"/>
              </a:spcAft>
            </a:pPr>
            <a:r>
              <a:rPr sz="1300" b="0">
                <a:solidFill>
                  <a:srgbClr val="16191F"/>
                </a:solidFill>
                <a:latin typeface="Calibri"/>
              </a:rPr>
              <a:t>•  API Gateway 4xx/5xx alarms; DynamoDB throttle alarms</a:t>
            </a:r>
          </a:p>
          <a:p>
            <a:pPr>
              <a:spcAft>
                <a:spcPts val="1200"/>
              </a:spcAft>
            </a:pPr>
            <a:r>
              <a:rPr sz="1300" b="0">
                <a:solidFill>
                  <a:srgbClr val="16191F"/>
                </a:solidFill>
                <a:latin typeface="Calibri"/>
              </a:rPr>
              <a:t>•  SNS topic fans out alarm notifications to alarm_email</a:t>
            </a:r>
          </a:p>
          <a:p>
            <a:pPr>
              <a:spcAft>
                <a:spcPts val="1200"/>
              </a:spcAft>
            </a:pPr>
            <a:r>
              <a:rPr sz="1300" b="0">
                <a:solidFill>
                  <a:srgbClr val="16191F"/>
                </a:solidFill>
                <a:latin typeface="Calibri"/>
              </a:rPr>
              <a:t>•  CloudWatch overview dashboard aggregates the whole stack</a:t>
            </a:r>
          </a:p>
          <a:p>
            <a:pPr>
              <a:spcAft>
                <a:spcPts val="1200"/>
              </a:spcAft>
            </a:pPr>
            <a:r>
              <a:rPr sz="1300" b="0">
                <a:solidFill>
                  <a:srgbClr val="16191F"/>
                </a:solidFill>
                <a:latin typeface="Calibri"/>
              </a:rPr>
              <a:t>•  X-Ray tracing enabled on every Lambda execution role</a:t>
            </a:r>
          </a:p>
          <a:p>
            <a:pPr>
              <a:spcAft>
                <a:spcPts val="1200"/>
              </a:spcAft>
            </a:pPr>
            <a:r>
              <a:rPr sz="1300" b="0">
                <a:solidFill>
                  <a:srgbClr val="16191F"/>
                </a:solidFill>
                <a:latin typeface="Calibri"/>
              </a:rPr>
              <a:t>•  Every CloudWatch Log Group encrypted with a dedicated KMS CMK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6528816"/>
            <a:ext cx="54864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5F6B"/>
                </a:solidFill>
                <a:latin typeface="Calibri"/>
              </a:rPr>
              <a:t>AutoClaim IQ  |  AWS Bedrock Agents Platform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5F6B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46304" cy="6858000"/>
          </a:xfrm>
          <a:prstGeom prst="roundRect">
            <a:avLst>
              <a:gd name="adj" fmla="val 6000"/>
            </a:avLst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73152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9900"/>
                </a:solidFill>
                <a:latin typeface="Calibri"/>
              </a:rPr>
              <a:t>SECURITY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530352"/>
            <a:ext cx="1115568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232F3E"/>
                </a:solidFill>
                <a:latin typeface="Calibri"/>
              </a:rPr>
              <a:t>What's deliberately not built — documented trade-offs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70432"/>
            <a:ext cx="1051560" cy="44450"/>
          </a:xfrm>
          <a:prstGeom prst="roundRect">
            <a:avLst>
              <a:gd name="adj" fmla="val 6000"/>
            </a:avLst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463040"/>
            <a:ext cx="5486400" cy="132588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463040"/>
            <a:ext cx="82296" cy="1325880"/>
          </a:xfrm>
          <a:prstGeom prst="roundRect">
            <a:avLst>
              <a:gd name="adj" fmla="val 6000"/>
            </a:avLst>
          </a:prstGeom>
          <a:solidFill>
            <a:srgbClr val="6B6B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91056"/>
            <a:ext cx="507492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32F3E"/>
                </a:solidFill>
                <a:latin typeface="Calibri"/>
              </a:rPr>
              <a:t>No VPC / PrivateLink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93392"/>
            <a:ext cx="5074920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A5F6B"/>
                </a:solidFill>
                <a:latin typeface="Calibri"/>
              </a:rPr>
              <a:t>Fully serverless stack; protection is IAM + application-layer only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463040"/>
            <a:ext cx="5486400" cy="132588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72200" y="1463040"/>
            <a:ext cx="82296" cy="1325880"/>
          </a:xfrm>
          <a:prstGeom prst="roundRect">
            <a:avLst>
              <a:gd name="adj" fmla="val 6000"/>
            </a:avLst>
          </a:prstGeom>
          <a:solidFill>
            <a:srgbClr val="6B6B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591056"/>
            <a:ext cx="507492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32F3E"/>
                </a:solidFill>
                <a:latin typeface="Calibri"/>
              </a:rPr>
              <a:t>No WAF on API Gateway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993392"/>
            <a:ext cx="5074920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A5F6B"/>
                </a:solidFill>
                <a:latin typeface="Calibri"/>
              </a:rPr>
              <a:t>JWT auth + stage throttling only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971800"/>
            <a:ext cx="5486400" cy="132588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2920" y="2971800"/>
            <a:ext cx="82296" cy="1325880"/>
          </a:xfrm>
          <a:prstGeom prst="roundRect">
            <a:avLst>
              <a:gd name="adj" fmla="val 6000"/>
            </a:avLst>
          </a:prstGeom>
          <a:solidFill>
            <a:srgbClr val="6B6B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099816"/>
            <a:ext cx="507492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32F3E"/>
                </a:solidFill>
                <a:latin typeface="Calibri"/>
              </a:rPr>
              <a:t>No customer-managed KMS on DynamoDB/S3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502152"/>
            <a:ext cx="5074920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A5F6B"/>
                </a:solidFill>
                <a:latin typeface="Calibri"/>
              </a:rPr>
              <a:t>Only CloudWatch Logs get a dedicated CMK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2971800"/>
            <a:ext cx="5486400" cy="132588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172200" y="2971800"/>
            <a:ext cx="82296" cy="1325880"/>
          </a:xfrm>
          <a:prstGeom prst="roundRect">
            <a:avLst>
              <a:gd name="adj" fmla="val 6000"/>
            </a:avLst>
          </a:prstGeom>
          <a:solidFill>
            <a:srgbClr val="6B6B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3099816"/>
            <a:ext cx="507492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32F3E"/>
                </a:solidFill>
                <a:latin typeface="Calibri"/>
              </a:rPr>
              <a:t>No custom domain on API Gateway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502152"/>
            <a:ext cx="5074920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A5F6B"/>
                </a:solidFill>
                <a:latin typeface="Calibri"/>
              </a:rPr>
              <a:t>Ships on the default execute-api endpoint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480560"/>
            <a:ext cx="5486400" cy="132588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02920" y="4480560"/>
            <a:ext cx="82296" cy="1325880"/>
          </a:xfrm>
          <a:prstGeom prst="roundRect">
            <a:avLst>
              <a:gd name="adj" fmla="val 6000"/>
            </a:avLst>
          </a:prstGeom>
          <a:solidFill>
            <a:srgbClr val="6B6B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608576"/>
            <a:ext cx="507492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32F3E"/>
                </a:solidFill>
                <a:latin typeface="Calibri"/>
              </a:rPr>
              <a:t>No multi-region / DR strategy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010912"/>
            <a:ext cx="5074920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A5F6B"/>
                </a:solidFill>
                <a:latin typeface="Calibri"/>
              </a:rPr>
              <a:t>Single region, no cross-region replication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4480560"/>
            <a:ext cx="5486400" cy="132588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172200" y="4480560"/>
            <a:ext cx="82296" cy="1325880"/>
          </a:xfrm>
          <a:prstGeom prst="roundRect">
            <a:avLst>
              <a:gd name="adj" fmla="val 6000"/>
            </a:avLst>
          </a:prstGeom>
          <a:solidFill>
            <a:srgbClr val="6B6B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4608576"/>
            <a:ext cx="507492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32F3E"/>
                </a:solidFill>
                <a:latin typeface="Calibri"/>
              </a:rPr>
              <a:t>No CI/CD pipeline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5010912"/>
            <a:ext cx="5074920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A5F6B"/>
                </a:solidFill>
                <a:latin typeface="Calibri"/>
              </a:rPr>
              <a:t>make preflight is the local substitute for CI gating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5852160"/>
            <a:ext cx="1115568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5A5F6B"/>
                </a:solidFill>
                <a:latin typeface="Calibri"/>
              </a:rPr>
              <a:t>These are explicit, reviewed trade-offs recorded in docs/decision-log.md — not oversights. The Guardrail's denied-topics/PII list is likewise a first draft pending legal/compliance review.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" y="6528816"/>
            <a:ext cx="54864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5F6B"/>
                </a:solidFill>
                <a:latin typeface="Calibri"/>
              </a:rPr>
              <a:t>AutoClaim IQ  |  AWS Bedrock Agents Platform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5F6B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46304" cy="6858000"/>
          </a:xfrm>
          <a:prstGeom prst="roundRect">
            <a:avLst>
              <a:gd name="adj" fmla="val 6000"/>
            </a:avLst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73152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9900"/>
                </a:solidFill>
                <a:latin typeface="Calibri"/>
              </a:rPr>
              <a:t>DEPLOYMENT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530352"/>
            <a:ext cx="1115568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232F3E"/>
                </a:solidFill>
                <a:latin typeface="Calibri"/>
              </a:rPr>
              <a:t>From bootstrap to a live conversation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70432"/>
            <a:ext cx="1051560" cy="44450"/>
          </a:xfrm>
          <a:prstGeom prst="roundRect">
            <a:avLst>
              <a:gd name="adj" fmla="val 6000"/>
            </a:avLst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5577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250" b="0">
                <a:solidFill>
                  <a:srgbClr val="16191F"/>
                </a:solidFill>
                <a:latin typeface="Calibri"/>
              </a:rPr>
              <a:t>•  1. Bootstrap Terraform state backend (S3 + DynamoDB lock) — once per account/region</a:t>
            </a:r>
          </a:p>
          <a:p>
            <a:pPr>
              <a:spcAft>
                <a:spcPts val="1300"/>
              </a:spcAft>
            </a:pPr>
            <a:r>
              <a:rPr sz="1250" b="0">
                <a:solidFill>
                  <a:srgbClr val="16191F"/>
                </a:solidFill>
                <a:latin typeface="Calibri"/>
              </a:rPr>
              <a:t>•  2. infra/live/dev: configure backend + terraform.tfvars, terraform init</a:t>
            </a:r>
          </a:p>
          <a:p>
            <a:pPr>
              <a:spcAft>
                <a:spcPts val="1300"/>
              </a:spcAft>
            </a:pPr>
            <a:r>
              <a:rPr sz="1250" b="0">
                <a:solidFill>
                  <a:srgbClr val="16191F"/>
                </a:solidFill>
                <a:latin typeface="Calibri"/>
              </a:rPr>
              <a:t>•  3. make preflight — fmt/validate every module + full pytest suite (the CI substitute)</a:t>
            </a:r>
          </a:p>
          <a:p>
            <a:pPr>
              <a:spcAft>
                <a:spcPts val="1300"/>
              </a:spcAft>
            </a:pPr>
            <a:r>
              <a:rPr sz="1250" b="0">
                <a:solidFill>
                  <a:srgbClr val="16191F"/>
                </a:solidFill>
                <a:latin typeface="Calibri"/>
              </a:rPr>
              <a:t>•  4. terraform apply — 12 modules, dependency-ordered</a:t>
            </a:r>
          </a:p>
          <a:p>
            <a:pPr>
              <a:spcAft>
                <a:spcPts val="1300"/>
              </a:spcAft>
            </a:pPr>
            <a:r>
              <a:rPr sz="1250" b="0">
                <a:solidFill>
                  <a:srgbClr val="16191F"/>
                </a:solidFill>
                <a:latin typeface="Calibri"/>
              </a:rPr>
              <a:t>•  5. make seed-policies / seed-claims — populate DynamoDB</a:t>
            </a:r>
          </a:p>
          <a:p>
            <a:pPr>
              <a:spcAft>
                <a:spcPts val="1300"/>
              </a:spcAft>
            </a:pPr>
            <a:r>
              <a:rPr sz="1250" b="0">
                <a:solidFill>
                  <a:srgbClr val="16191F"/>
                </a:solidFill>
                <a:latin typeface="Calibri"/>
              </a:rPr>
              <a:t>•  6. make upload-kb-docs — triggers automatic KB ingestion via S3 event</a:t>
            </a:r>
          </a:p>
          <a:p>
            <a:pPr>
              <a:spcAft>
                <a:spcPts val="1300"/>
              </a:spcAft>
            </a:pPr>
            <a:r>
              <a:rPr sz="1250" b="0">
                <a:solidFill>
                  <a:srgbClr val="16191F"/>
                </a:solidFill>
                <a:latin typeface="Calibri"/>
              </a:rPr>
              <a:t>•  7. Create a Cognito test user, obtain a bearer token, call POST /chat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463040"/>
            <a:ext cx="5349240" cy="470916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645920"/>
            <a:ext cx="47548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32F3E"/>
                </a:solidFill>
                <a:latin typeface="Calibri"/>
              </a:rPr>
              <a:t>Candidate next 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103120"/>
            <a:ext cx="4800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300" b="0">
                <a:solidFill>
                  <a:srgbClr val="16191F"/>
                </a:solidFill>
                <a:latin typeface="Calibri"/>
              </a:rPr>
              <a:t>•  Add a CI/CD pipeline around make preflight</a:t>
            </a:r>
          </a:p>
          <a:p>
            <a:pPr>
              <a:spcAft>
                <a:spcPts val="1200"/>
              </a:spcAft>
            </a:pPr>
            <a:r>
              <a:rPr sz="1300" b="0">
                <a:solidFill>
                  <a:srgbClr val="16191F"/>
                </a:solidFill>
                <a:latin typeface="Calibri"/>
              </a:rPr>
              <a:t>•  WAF in front of API Gateway</a:t>
            </a:r>
          </a:p>
          <a:p>
            <a:pPr>
              <a:spcAft>
                <a:spcPts val="1200"/>
              </a:spcAft>
            </a:pPr>
            <a:r>
              <a:rPr sz="1300" b="0">
                <a:solidFill>
                  <a:srgbClr val="16191F"/>
                </a:solidFill>
                <a:latin typeface="Calibri"/>
              </a:rPr>
              <a:t>•  Customer-managed KMS keys for DynamoDB/S3</a:t>
            </a:r>
          </a:p>
          <a:p>
            <a:pPr>
              <a:spcAft>
                <a:spcPts val="1200"/>
              </a:spcAft>
            </a:pPr>
            <a:r>
              <a:rPr sz="1300" b="0">
                <a:solidFill>
                  <a:srgbClr val="16191F"/>
                </a:solidFill>
                <a:latin typeface="Calibri"/>
              </a:rPr>
              <a:t>•  Custom domain + ACM certificate for the API</a:t>
            </a:r>
          </a:p>
          <a:p>
            <a:pPr>
              <a:spcAft>
                <a:spcPts val="1200"/>
              </a:spcAft>
            </a:pPr>
            <a:r>
              <a:rPr sz="1300" b="0">
                <a:solidFill>
                  <a:srgbClr val="16191F"/>
                </a:solidFill>
                <a:latin typeface="Calibri"/>
              </a:rPr>
              <a:t>•  Multi-region / DR strategy</a:t>
            </a:r>
          </a:p>
          <a:p>
            <a:pPr>
              <a:spcAft>
                <a:spcPts val="1200"/>
              </a:spcAft>
            </a:pPr>
            <a:r>
              <a:rPr sz="1300" b="0">
                <a:solidFill>
                  <a:srgbClr val="16191F"/>
                </a:solidFill>
                <a:latin typeface="Calibri"/>
              </a:rPr>
              <a:t>•  Finalize Guardrail policy with legal/compliance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6528816"/>
            <a:ext cx="54864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A5F6B"/>
                </a:solidFill>
                <a:latin typeface="Calibri"/>
              </a:rPr>
              <a:t>AutoClaim IQ  |  AWS Bedrock Agents 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5F6B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